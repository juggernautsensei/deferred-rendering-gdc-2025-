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7" r:id="rId12"/>
    <p:sldId id="269" r:id="rId13"/>
    <p:sldId id="270" r:id="rId14"/>
    <p:sldId id="266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-3624" y="-20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20E7B61-7A77-47EF-9A59-DDE8D50ED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6814EB1A-7AC2-4B94-8E8F-228E5380BA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54BAFEC-B53A-4DAC-937E-7194F71D5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6749-4C19-4DBA-B3F5-473FC0DAECB0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DB3B2486-3A09-4E37-9671-2F96CD1E1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0954287-4CA1-4094-848C-BDB4C9C24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27DD-8F05-4A2C-B538-91B229C466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040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9FB8EAB-D995-40A5-A65D-94B3723C5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60CE8B6-41DD-4748-82F7-13617A42E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2771B0E-7E6E-4533-980B-85FBF9019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6749-4C19-4DBA-B3F5-473FC0DAECB0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86B0F70-1D68-4F3D-8EA8-B7C8FF82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E00AF41-5836-473F-AFA1-4176F720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27DD-8F05-4A2C-B538-91B229C466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59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97C0158-3BCE-4CEE-B9C7-564FAA9DE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D1A2CC8A-9C29-4CC4-99EB-384B7295C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816D253-B74A-4F66-981E-88C377220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6749-4C19-4DBA-B3F5-473FC0DAECB0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EF51D035-711D-4349-A165-A8D24D019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1679519-5E97-4371-9388-4DAB4FD4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27DD-8F05-4A2C-B538-91B229C466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011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87E674C-98AC-4A94-8AFC-340C3A911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E2DF60BA-6D86-44C3-ABCA-35F46F072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9FEE2E73-736A-466B-9D5E-F2C4E9ECB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75B51B91-BA08-4DB6-B7D3-A5F1C5AAD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6749-4C19-4DBA-B3F5-473FC0DAECB0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19F94903-E49D-466C-9828-19ACF152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26E3967E-58D5-47EE-A4EB-ECC670E94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27DD-8F05-4A2C-B538-91B229C466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3023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F620158-B1E1-4D84-9BC9-3872FFD21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AD925414-FC40-4779-924E-09175E34E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CA7B6257-20C4-4E7B-8515-CB2FDF0E1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50596926-2506-41EE-ACED-B2DD53B52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C6DAF552-6F14-4324-B74E-CBE6BE67A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3604B2D2-240D-4010-BA30-009AE31F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6749-4C19-4DBA-B3F5-473FC0DAECB0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48272CDB-34C0-4BA5-A455-4E60A0BAD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69451886-0D71-4598-9A46-0B1D4D124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27DD-8F05-4A2C-B538-91B229C466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533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88DAB33-2A7D-4E54-8A0B-C06E6CB9B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AE4E8987-D0D8-40F1-A1A2-76A2B0751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6749-4C19-4DBA-B3F5-473FC0DAECB0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0EBB77A3-42D5-4D45-9E53-5CC2DFB97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3A7B4F53-EBC1-486D-ABC3-83AB2A3D7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27DD-8F05-4A2C-B538-91B229C466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759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2FD99B25-5341-4505-AE1E-15334528C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6749-4C19-4DBA-B3F5-473FC0DAECB0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37775DD3-9CB2-4FF3-A386-9F2C39826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7ABF8E2D-EC24-41A4-9D0E-A9A884FF4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27DD-8F05-4A2C-B538-91B229C466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06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4A38E3C-7FD1-4144-B93B-CF71F9F35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E8890520-3EC8-41EC-BB0F-51A86BE64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035F75B6-E518-4D4F-A60B-DD3FA0ECF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884F0802-3FB3-443A-999E-338F27138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6749-4C19-4DBA-B3F5-473FC0DAECB0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9DF4DEAF-AC47-4C9D-9984-536D23A4B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76867371-0F9C-48D0-BB1F-E32999DAB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27DD-8F05-4A2C-B538-91B229C466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60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A8B27AE-E1AB-441D-8247-29E558F4C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42477551-121B-45FE-973F-C34D0C0A6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9F846169-00AC-4612-B658-FC2815AB9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47D20CFA-9E3F-4EE4-99D9-C36C3BA20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6749-4C19-4DBA-B3F5-473FC0DAECB0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59845F34-B63A-4187-ABC3-DA61F1FA4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39E92101-9727-4572-991E-B056F2FE3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27DD-8F05-4A2C-B538-91B229C466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39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FD9D370-169F-4C75-A52D-076243E0A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8B963512-7779-44DD-9303-91E399EAF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4B8E2CC-9B4D-4A06-B1CC-1965040A5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6749-4C19-4DBA-B3F5-473FC0DAECB0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E0255869-50D4-4DE9-A56E-B3BA4B5F2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B92758E-EF19-41A2-A161-39BB531F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27DD-8F05-4A2C-B538-91B229C466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728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976C82A5-72E1-45E5-9E2A-C4E08C5B92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8E52BB0-29BE-49A1-B010-14156B722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6794B53F-8F8C-45EA-9337-170142549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6749-4C19-4DBA-B3F5-473FC0DAECB0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CF040BA5-C478-4552-AAAE-D24504403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881BFF08-5236-4A82-A25A-4C77AEC4C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127DD-8F05-4A2C-B538-91B229C466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10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C26A3A42-603C-4348-8556-7A164A63A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38DAB7B7-7DE6-4FD3-81C8-74E2C6049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CC93C368-29EA-4EB5-A2BB-9AFA2304B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76749-4C19-4DBA-B3F5-473FC0DAECB0}" type="datetimeFigureOut">
              <a:rPr lang="ko-KR" altLang="en-US" smtClean="0"/>
              <a:t>2026-08-22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D7D4D4A-7499-462D-9235-30C17B4FB0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71EA95F4-AB51-4882-9A3A-75CD39596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127DD-8F05-4A2C-B538-91B229C466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067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owerclabman.tistory.com/" TargetMode="External"/><Relationship Id="rId2" Type="http://schemas.openxmlformats.org/officeDocument/2006/relationships/hyperlink" Target="https://github.com/powercrabma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hyperlink" Target="https://cdn2.unrealengine.com/Resources/files/2013SiggraphPresentationsNotes-26915738.pdf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download.nvidia.com/assets/gamedev/files/sdk/11/FXAA_WhitePaper.pdf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el.com/content/www/us/en/developer/articles/technical/oit-approximation-with-pixel-synchronization.html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BF26E50-8D6E-4505-A8FC-6C92F578B1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48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Deferred Rendering</a:t>
            </a:r>
            <a:r>
              <a:rPr lang="ko-KR" altLang="en-US" sz="48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을 이용한</a:t>
            </a:r>
            <a:r>
              <a:rPr lang="en-US" altLang="ko-KR" sz="48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/>
            </a:r>
            <a:br>
              <a:rPr lang="en-US" altLang="ko-KR" sz="4800" dirty="0">
                <a:latin typeface="맑은 고딕" panose="020B0503020000020004" pitchFamily="34" charset="-127"/>
                <a:ea typeface="맑은 고딕" panose="020B0503020000020004" pitchFamily="34" charset="-127"/>
              </a:rPr>
            </a:br>
            <a:r>
              <a:rPr lang="ko-KR" altLang="en-US" sz="48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렌더링 최적화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F4CAEA76-89B4-4F2C-9A34-784A83B0D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부경대학교 컴퓨터공학과 </a:t>
            </a:r>
            <a:r>
              <a:rPr lang="en-US" altLang="ko-KR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4</a:t>
            </a:r>
            <a:r>
              <a:rPr lang="ko-KR" altLang="en-US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학년</a:t>
            </a:r>
            <a:endParaRPr lang="en-US" altLang="ko-KR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lang="ko-KR" altLang="en-US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안지우</a:t>
            </a:r>
          </a:p>
          <a:p>
            <a:endParaRPr lang="en-US" altLang="ko-KR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lang="en-US" altLang="ko-KR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Git: </a:t>
            </a:r>
            <a:r>
              <a:rPr lang="en-US" altLang="ko-KR" dirty="0">
                <a:latin typeface="맑은 고딕" panose="020B0503020000020004" pitchFamily="34" charset="-127"/>
                <a:ea typeface="맑은 고딕" panose="020B0503020000020004" pitchFamily="34" charset="-127"/>
                <a:hlinkClick r:id="rId2"/>
              </a:rPr>
              <a:t>https://github.com/powercrabman</a:t>
            </a:r>
            <a:endParaRPr lang="en-US" altLang="ko-KR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r>
              <a:rPr lang="en-US" altLang="ko-KR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Blog: </a:t>
            </a:r>
            <a:r>
              <a:rPr lang="en-US" altLang="ko-KR" dirty="0">
                <a:latin typeface="맑은 고딕" panose="020B0503020000020004" pitchFamily="34" charset="-127"/>
                <a:ea typeface="맑은 고딕" panose="020B0503020000020004" pitchFamily="34" charset="-127"/>
                <a:hlinkClick r:id="rId3"/>
              </a:rPr>
              <a:t>https://powerclabman.tistory.com/</a:t>
            </a:r>
            <a:r>
              <a:rPr lang="en-US" altLang="ko-KR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3402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1DB500B-E2A9-43BC-9893-9F6D1BCD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배경지식 </a:t>
            </a:r>
            <a:r>
              <a:rPr lang="en-US" altLang="ko-KR" dirty="0"/>
              <a:t>– </a:t>
            </a:r>
            <a:r>
              <a:rPr lang="ko-KR" altLang="en-US" dirty="0"/>
              <a:t>렌더링 기초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B365A475-5CA9-43EE-A637-796A631CB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개념</a:t>
            </a:r>
            <a:r>
              <a:rPr lang="en-US" altLang="ko-KR" dirty="0"/>
              <a:t>: </a:t>
            </a:r>
            <a:r>
              <a:rPr lang="ko-KR" altLang="en-US" dirty="0"/>
              <a:t>스크린에 그림을 그리는 모든 행위</a:t>
            </a:r>
            <a:endParaRPr lang="en-US" altLang="ko-KR" dirty="0"/>
          </a:p>
          <a:p>
            <a:r>
              <a:rPr lang="ko-KR" altLang="en-US" dirty="0"/>
              <a:t>일반적으로 </a:t>
            </a:r>
            <a:r>
              <a:rPr lang="en-US" altLang="ko-KR" dirty="0"/>
              <a:t>GPU</a:t>
            </a:r>
            <a:r>
              <a:rPr lang="ko-KR" altLang="en-US" dirty="0"/>
              <a:t> 명령으로 수행된다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6870A822-943D-4492-94A9-BCEC3ED52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6321" y="202842"/>
            <a:ext cx="2826978" cy="6452316"/>
          </a:xfrm>
          <a:prstGeom prst="rect">
            <a:avLst/>
          </a:prstGeom>
        </p:spPr>
      </p:pic>
      <p:pic>
        <p:nvPicPr>
          <p:cNvPr id="1028" name="Picture 4" descr="Super Mario Bros. 1 Mario Palette - Pixilart">
            <a:extLst>
              <a:ext uri="{FF2B5EF4-FFF2-40B4-BE49-F238E27FC236}">
                <a16:creationId xmlns:a16="http://schemas.microsoft.com/office/drawing/2014/main" xmlns="" id="{587C264C-60CC-4CEE-88B1-6C262E6AB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209" y="3325584"/>
            <a:ext cx="2441083" cy="2441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9D6C629-831A-4488-AE10-EEDC25E6EF1D}"/>
              </a:ext>
            </a:extLst>
          </p:cNvPr>
          <p:cNvSpPr txBox="1"/>
          <p:nvPr/>
        </p:nvSpPr>
        <p:spPr>
          <a:xfrm>
            <a:off x="5481864" y="6050290"/>
            <a:ext cx="1843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2D </a:t>
            </a:r>
            <a:r>
              <a:rPr lang="ko-KR" altLang="en-US" sz="2800" dirty="0"/>
              <a:t>렌더링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30169CAD-3B43-4C9D-A05D-CA63B41A5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517" y="3180161"/>
            <a:ext cx="2787837" cy="27319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998B84D-B489-49F0-AED7-61C5EA4415B1}"/>
              </a:ext>
            </a:extLst>
          </p:cNvPr>
          <p:cNvSpPr txBox="1"/>
          <p:nvPr/>
        </p:nvSpPr>
        <p:spPr>
          <a:xfrm>
            <a:off x="1752548" y="6050290"/>
            <a:ext cx="1843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3D </a:t>
            </a:r>
            <a:r>
              <a:rPr lang="ko-KR" altLang="en-US" sz="2800" dirty="0"/>
              <a:t>렌더링</a:t>
            </a:r>
          </a:p>
        </p:txBody>
      </p:sp>
    </p:spTree>
    <p:extLst>
      <p:ext uri="{BB962C8B-B14F-4D97-AF65-F5344CB8AC3E}">
        <p14:creationId xmlns:p14="http://schemas.microsoft.com/office/powerpoint/2010/main" val="1682133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611787B-828E-4484-81FF-7B6230834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배경지식 </a:t>
            </a:r>
            <a:r>
              <a:rPr lang="en-US" altLang="ko-KR" dirty="0"/>
              <a:t>– </a:t>
            </a:r>
            <a:r>
              <a:rPr lang="ko-KR" altLang="en-US" dirty="0"/>
              <a:t>렌더링 기초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F5D3D4D-39E6-4155-9F89-6D5F2A1DE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2D</a:t>
            </a:r>
            <a:r>
              <a:rPr lang="ko-KR" altLang="en-US" dirty="0"/>
              <a:t>든 </a:t>
            </a:r>
            <a:r>
              <a:rPr lang="en-US" altLang="ko-KR" dirty="0"/>
              <a:t>3D</a:t>
            </a:r>
            <a:r>
              <a:rPr lang="ko-KR" altLang="en-US" dirty="0"/>
              <a:t>는 결국 렌더링은 </a:t>
            </a:r>
            <a:r>
              <a:rPr lang="ko-KR" altLang="en-US" b="1" dirty="0"/>
              <a:t>픽셀</a:t>
            </a:r>
            <a:r>
              <a:rPr lang="ko-KR" altLang="en-US" dirty="0"/>
              <a:t>을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엄청 많이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)</a:t>
            </a:r>
            <a:r>
              <a:rPr lang="en-US" altLang="ko-KR" dirty="0"/>
              <a:t> </a:t>
            </a:r>
            <a:r>
              <a:rPr lang="ko-KR" altLang="en-US" dirty="0"/>
              <a:t>찍는 행위</a:t>
            </a:r>
            <a:endParaRPr lang="en-US" altLang="ko-KR" dirty="0"/>
          </a:p>
          <a:p>
            <a:r>
              <a:rPr lang="ko-KR" altLang="en-US" dirty="0"/>
              <a:t>픽셀 하나를 찍을 수 있으면 그 어떤 그림도 렌더링할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545B72A5-6E57-436C-8672-2CF7658CD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547" y="3220493"/>
            <a:ext cx="3875551" cy="2957657"/>
          </a:xfrm>
          <a:prstGeom prst="rect">
            <a:avLst/>
          </a:prstGeom>
        </p:spPr>
      </p:pic>
      <p:sp>
        <p:nvSpPr>
          <p:cNvPr id="7" name="화살표: 왼쪽 6">
            <a:extLst>
              <a:ext uri="{FF2B5EF4-FFF2-40B4-BE49-F238E27FC236}">
                <a16:creationId xmlns:a16="http://schemas.microsoft.com/office/drawing/2014/main" xmlns="" id="{3386B66F-9976-4F69-B318-B0693843AAFB}"/>
              </a:ext>
            </a:extLst>
          </p:cNvPr>
          <p:cNvSpPr/>
          <p:nvPr/>
        </p:nvSpPr>
        <p:spPr>
          <a:xfrm>
            <a:off x="3683793" y="4368757"/>
            <a:ext cx="1809046" cy="82142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06CD20B-3F16-41B5-B2B4-ED9401AFE28B}"/>
              </a:ext>
            </a:extLst>
          </p:cNvPr>
          <p:cNvSpPr txBox="1"/>
          <p:nvPr/>
        </p:nvSpPr>
        <p:spPr>
          <a:xfrm>
            <a:off x="5651679" y="3585795"/>
            <a:ext cx="59522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픽셀을 찍을 </a:t>
            </a:r>
            <a:r>
              <a:rPr lang="ko-KR" altLang="en-US" sz="2400" b="1" dirty="0"/>
              <a:t>위치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색 </a:t>
            </a:r>
            <a:r>
              <a:rPr lang="ko-KR" altLang="en-US" sz="2400" dirty="0"/>
              <a:t>을 결정할 수 있으면</a:t>
            </a:r>
            <a:endParaRPr lang="en-US" altLang="ko-KR" sz="2400" dirty="0"/>
          </a:p>
          <a:p>
            <a:r>
              <a:rPr lang="ko-KR" altLang="en-US" sz="2400" dirty="0"/>
              <a:t>픽셀을 찍을 수 있다</a:t>
            </a:r>
            <a:r>
              <a:rPr lang="en-US" altLang="ko-KR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9B445FF-D06A-4A5F-8A7B-E640643CFF26}"/>
              </a:ext>
            </a:extLst>
          </p:cNvPr>
          <p:cNvSpPr txBox="1"/>
          <p:nvPr/>
        </p:nvSpPr>
        <p:spPr>
          <a:xfrm>
            <a:off x="5651679" y="4551729"/>
            <a:ext cx="34723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위치</a:t>
            </a:r>
            <a:r>
              <a:rPr lang="en-US" altLang="ko-KR" sz="2400" b="1" dirty="0"/>
              <a:t> (x, y):    </a:t>
            </a:r>
            <a:r>
              <a:rPr lang="en-US" altLang="ko-KR" sz="2400" dirty="0"/>
              <a:t>(10, 8)</a:t>
            </a:r>
          </a:p>
          <a:p>
            <a:r>
              <a:rPr lang="ko-KR" altLang="en-US" sz="2400" b="1" dirty="0"/>
              <a:t>색상</a:t>
            </a:r>
            <a:r>
              <a:rPr lang="en-US" altLang="ko-KR" sz="2400" b="1" dirty="0"/>
              <a:t> (r, g, b): </a:t>
            </a:r>
            <a:r>
              <a:rPr lang="en-US" altLang="ko-KR" sz="2400" dirty="0"/>
              <a:t>(255, 0, 0)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00325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3BA91F2-AF2B-4E48-89C8-4FBAAB368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배경지식 </a:t>
            </a:r>
            <a:r>
              <a:rPr lang="en-US" altLang="ko-KR" dirty="0"/>
              <a:t>– 3D </a:t>
            </a:r>
            <a:r>
              <a:rPr lang="ko-KR" altLang="en-US" dirty="0"/>
              <a:t>렌더링 기초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BC05437A-35E5-4E23-8D15-DC6DF9362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3D </a:t>
            </a:r>
            <a:r>
              <a:rPr lang="ko-KR" altLang="en-US" dirty="0"/>
              <a:t>그림을 그리기 위해서는 몇 가지 정보가 더 필요한데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97517597-A148-41C8-95A2-BE1F509916E8}"/>
              </a:ext>
            </a:extLst>
          </p:cNvPr>
          <p:cNvGrpSpPr/>
          <p:nvPr/>
        </p:nvGrpSpPr>
        <p:grpSpPr>
          <a:xfrm>
            <a:off x="1892792" y="2659846"/>
            <a:ext cx="8406415" cy="3114421"/>
            <a:chOff x="1777588" y="2685246"/>
            <a:chExt cx="8871095" cy="332722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xmlns="" id="{A46FD3CC-9BFB-4C8D-AB63-5618ADD4E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7588" y="2685246"/>
              <a:ext cx="4140255" cy="3327227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xmlns="" id="{5E123AC3-FBA7-4DDF-9DA7-30DB726D8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08428" y="2685246"/>
              <a:ext cx="4140255" cy="3327227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97ECE74-7B87-4DA8-9117-1D0B25F2F331}"/>
              </a:ext>
            </a:extLst>
          </p:cNvPr>
          <p:cNvSpPr txBox="1"/>
          <p:nvPr/>
        </p:nvSpPr>
        <p:spPr>
          <a:xfrm>
            <a:off x="1296448" y="6050290"/>
            <a:ext cx="95991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/>
              <a:t>인류 단 </a:t>
            </a:r>
            <a:r>
              <a:rPr lang="en-US" altLang="ko-KR" sz="2800" dirty="0"/>
              <a:t>50%</a:t>
            </a:r>
            <a:r>
              <a:rPr lang="ko-KR" altLang="en-US" sz="2800" dirty="0"/>
              <a:t>만 맞출 수 있는 문제</a:t>
            </a:r>
            <a:r>
              <a:rPr lang="en-US" altLang="ko-KR" sz="2800" dirty="0"/>
              <a:t>: </a:t>
            </a:r>
            <a:r>
              <a:rPr lang="ko-KR" altLang="en-US" sz="2800" b="1" dirty="0"/>
              <a:t>둘 중에 뭐가 </a:t>
            </a:r>
            <a:r>
              <a:rPr lang="en-US" altLang="ko-KR" sz="2800" b="1" dirty="0"/>
              <a:t>3D</a:t>
            </a:r>
            <a:r>
              <a:rPr lang="ko-KR" altLang="en-US" sz="2800" b="1" dirty="0"/>
              <a:t> 일까</a:t>
            </a:r>
            <a:r>
              <a:rPr lang="en-US" altLang="ko-KR" sz="2800" b="1" dirty="0"/>
              <a:t>?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274309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3BA91F2-AF2B-4E48-89C8-4FBAAB368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배경지식 </a:t>
            </a:r>
            <a:r>
              <a:rPr lang="en-US" altLang="ko-KR" dirty="0"/>
              <a:t>– 3D </a:t>
            </a:r>
            <a:r>
              <a:rPr lang="ko-KR" altLang="en-US" dirty="0"/>
              <a:t>렌더링 기초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BC05437A-35E5-4E23-8D15-DC6DF9362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3D </a:t>
            </a:r>
            <a:r>
              <a:rPr lang="ko-KR" altLang="en-US" dirty="0"/>
              <a:t>그림을 그리기 위해서는 몇 가지 정보가 더 필요한데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97517597-A148-41C8-95A2-BE1F509916E8}"/>
              </a:ext>
            </a:extLst>
          </p:cNvPr>
          <p:cNvGrpSpPr/>
          <p:nvPr/>
        </p:nvGrpSpPr>
        <p:grpSpPr>
          <a:xfrm>
            <a:off x="1892792" y="2659846"/>
            <a:ext cx="8406415" cy="3114421"/>
            <a:chOff x="1777588" y="2685246"/>
            <a:chExt cx="8871095" cy="332722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xmlns="" id="{A46FD3CC-9BFB-4C8D-AB63-5618ADD4E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7588" y="2685246"/>
              <a:ext cx="4140255" cy="3327227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xmlns="" id="{5E123AC3-FBA7-4DDF-9DA7-30DB726D8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08428" y="2685246"/>
              <a:ext cx="4140255" cy="3327227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97ECE74-7B87-4DA8-9117-1D0B25F2F331}"/>
              </a:ext>
            </a:extLst>
          </p:cNvPr>
          <p:cNvSpPr txBox="1"/>
          <p:nvPr/>
        </p:nvSpPr>
        <p:spPr>
          <a:xfrm>
            <a:off x="602182" y="6050290"/>
            <a:ext cx="888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/>
              <a:t>구분이 어렵다</a:t>
            </a:r>
            <a:r>
              <a:rPr lang="en-US" altLang="ko-KR" sz="2800" dirty="0"/>
              <a:t>. </a:t>
            </a:r>
            <a:r>
              <a:rPr lang="en-US" altLang="ko-KR" sz="2800" b="1" dirty="0"/>
              <a:t>-&gt; </a:t>
            </a:r>
            <a:r>
              <a:rPr lang="ko-KR" altLang="en-US" sz="2800" b="1" dirty="0"/>
              <a:t>입체감을 주기위한 추가 정보 필요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AF09E33-B80C-479E-B178-B4B826DB6A1C}"/>
              </a:ext>
            </a:extLst>
          </p:cNvPr>
          <p:cNvSpPr txBox="1"/>
          <p:nvPr/>
        </p:nvSpPr>
        <p:spPr>
          <a:xfrm>
            <a:off x="9271472" y="5952565"/>
            <a:ext cx="24176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rgbClr val="FF3300"/>
                </a:solidFill>
              </a:rPr>
              <a:t>빛과 재질</a:t>
            </a:r>
          </a:p>
        </p:txBody>
      </p:sp>
    </p:spTree>
    <p:extLst>
      <p:ext uri="{BB962C8B-B14F-4D97-AF65-F5344CB8AC3E}">
        <p14:creationId xmlns:p14="http://schemas.microsoft.com/office/powerpoint/2010/main" val="1051503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4E65A14-3CC9-4B2A-9A1C-52E5B6150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배경지식 </a:t>
            </a:r>
            <a:r>
              <a:rPr lang="en-US" altLang="ko-KR" dirty="0"/>
              <a:t>– </a:t>
            </a:r>
            <a:r>
              <a:rPr lang="ko-KR" altLang="en-US" dirty="0"/>
              <a:t>빛 렌더링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E47B2404-074F-4970-894C-7D117F1A7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갑자기 분위기 지구과학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D3C6F24-F3FF-44A3-A87F-9A54450E25C6}"/>
              </a:ext>
            </a:extLst>
          </p:cNvPr>
          <p:cNvSpPr txBox="1"/>
          <p:nvPr/>
        </p:nvSpPr>
        <p:spPr>
          <a:xfrm>
            <a:off x="7340600" y="2486025"/>
            <a:ext cx="4013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B</a:t>
            </a:r>
            <a:r>
              <a:rPr lang="ko-KR" altLang="en-US" sz="2800" dirty="0"/>
              <a:t>가 빛 에너지를 가장 많이 받고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en-US" altLang="ko-KR" sz="2800" dirty="0"/>
              <a:t>A</a:t>
            </a:r>
            <a:r>
              <a:rPr lang="ko-KR" altLang="en-US" sz="2800" dirty="0"/>
              <a:t>가 빛 에너지를 가장 적게 받는다</a:t>
            </a:r>
            <a:r>
              <a:rPr lang="en-US" altLang="ko-KR" sz="2800" dirty="0"/>
              <a:t>.</a:t>
            </a:r>
          </a:p>
          <a:p>
            <a:endParaRPr lang="en-US" altLang="ko-KR" sz="2800" dirty="0"/>
          </a:p>
          <a:p>
            <a:r>
              <a:rPr lang="ko-KR" altLang="en-US" sz="2800" dirty="0"/>
              <a:t>빛을 렌더링하려면</a:t>
            </a:r>
            <a:endParaRPr lang="en-US" altLang="ko-KR" sz="2800" dirty="0"/>
          </a:p>
          <a:p>
            <a:r>
              <a:rPr lang="ko-KR" altLang="en-US" sz="2800" b="1" dirty="0"/>
              <a:t>빛 에너지를 받는 양</a:t>
            </a:r>
            <a:r>
              <a:rPr lang="ko-KR" altLang="en-US" sz="2800" dirty="0"/>
              <a:t>을 고려해야한다</a:t>
            </a:r>
            <a:r>
              <a:rPr lang="en-US" altLang="ko-KR" sz="2800" dirty="0"/>
              <a:t>.</a:t>
            </a:r>
            <a:endParaRPr lang="ko-KR" altLang="en-US" sz="2800" dirty="0"/>
          </a:p>
        </p:txBody>
      </p:sp>
      <p:pic>
        <p:nvPicPr>
          <p:cNvPr id="2058" name="Picture 10" descr="태양에너지 구조 : 네이버 블로그">
            <a:extLst>
              <a:ext uri="{FF2B5EF4-FFF2-40B4-BE49-F238E27FC236}">
                <a16:creationId xmlns:a16="http://schemas.microsoft.com/office/drawing/2014/main" xmlns="" id="{CDC05566-9904-4336-B289-9D16077BD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992" y="2486025"/>
            <a:ext cx="6274029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450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4E65A14-3CC9-4B2A-9A1C-52E5B6150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배경지식 </a:t>
            </a:r>
            <a:r>
              <a:rPr lang="en-US" altLang="ko-KR" dirty="0"/>
              <a:t>– </a:t>
            </a:r>
            <a:r>
              <a:rPr lang="ko-KR" altLang="en-US" dirty="0"/>
              <a:t>빛 렌더링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E47B2404-074F-4970-894C-7D117F1A7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이러한 원리는 대충 이정도로 하면 비슷하지 않을까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5124" name="Picture 4" descr="https://blog.kakaocdn.net/dn/bAZ4rm/btqyDDraryY/2KHxrb9nGeoZZ1ErPSu051/img.png">
            <a:extLst>
              <a:ext uri="{FF2B5EF4-FFF2-40B4-BE49-F238E27FC236}">
                <a16:creationId xmlns:a16="http://schemas.microsoft.com/office/drawing/2014/main" xmlns="" id="{F6E86982-F946-4BC8-A511-2A9DA5775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21" y="2435225"/>
            <a:ext cx="4010025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2477E91-51AB-431E-A99C-2D33A5A2E9C9}"/>
              </a:ext>
            </a:extLst>
          </p:cNvPr>
          <p:cNvSpPr txBox="1"/>
          <p:nvPr/>
        </p:nvSpPr>
        <p:spPr>
          <a:xfrm>
            <a:off x="4646613" y="2435225"/>
            <a:ext cx="754538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표면의 입사각을 </a:t>
            </a:r>
            <a:r>
              <a:rPr lang="el-GR" altLang="ko-KR" sz="2800" dirty="0"/>
              <a:t>θ</a:t>
            </a:r>
            <a:r>
              <a:rPr lang="en-US" altLang="ko-KR" sz="2800" dirty="0"/>
              <a:t> </a:t>
            </a:r>
            <a:r>
              <a:rPr lang="ko-KR" altLang="en-US" sz="2800" dirty="0"/>
              <a:t>라고 할 때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ko-KR" altLang="en-US" sz="2800" dirty="0"/>
              <a:t>입사각이 </a:t>
            </a:r>
            <a:r>
              <a:rPr lang="en-US" altLang="ko-KR" sz="2800" dirty="0"/>
              <a:t>0</a:t>
            </a:r>
            <a:r>
              <a:rPr lang="ko-KR" altLang="en-US" sz="2800" dirty="0"/>
              <a:t>일 때</a:t>
            </a:r>
            <a:r>
              <a:rPr lang="en-US" altLang="ko-KR" sz="2800" dirty="0"/>
              <a:t>, </a:t>
            </a:r>
            <a:r>
              <a:rPr lang="ko-KR" altLang="en-US" sz="2800" dirty="0"/>
              <a:t>빛 에너지가 가장 강하게</a:t>
            </a:r>
            <a:endParaRPr lang="en-US" altLang="ko-KR" sz="2800" dirty="0"/>
          </a:p>
          <a:p>
            <a:r>
              <a:rPr lang="ko-KR" altLang="en-US" sz="2800" dirty="0"/>
              <a:t>입사각이 </a:t>
            </a:r>
            <a:r>
              <a:rPr lang="en-US" altLang="ko-KR" sz="2800" dirty="0"/>
              <a:t>90’</a:t>
            </a:r>
            <a:r>
              <a:rPr lang="ko-KR" altLang="en-US" sz="2800" dirty="0"/>
              <a:t>일 때</a:t>
            </a:r>
            <a:r>
              <a:rPr lang="en-US" altLang="ko-KR" sz="2800" dirty="0"/>
              <a:t>, </a:t>
            </a:r>
            <a:r>
              <a:rPr lang="ko-KR" altLang="en-US" sz="2800" dirty="0"/>
              <a:t>빛 에너지가 가장 약하게</a:t>
            </a:r>
            <a:endParaRPr lang="en-US" altLang="ko-KR" sz="2800" dirty="0"/>
          </a:p>
          <a:p>
            <a:r>
              <a:rPr lang="ko-KR" altLang="en-US" sz="2800" dirty="0"/>
              <a:t>대충 </a:t>
            </a:r>
            <a:r>
              <a:rPr lang="en-US" altLang="ko-KR" sz="2800" dirty="0"/>
              <a:t>cos </a:t>
            </a:r>
            <a:r>
              <a:rPr lang="ko-KR" altLang="en-US" sz="2800" dirty="0"/>
              <a:t>함수 사용하면 될 듯</a:t>
            </a:r>
            <a:endParaRPr lang="el-GR" altLang="ko-KR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5077BBD-833D-4968-AA7C-2B8C0D5BFB5E}"/>
              </a:ext>
            </a:extLst>
          </p:cNvPr>
          <p:cNvSpPr txBox="1"/>
          <p:nvPr/>
        </p:nvSpPr>
        <p:spPr>
          <a:xfrm>
            <a:off x="4646613" y="4976634"/>
            <a:ext cx="75453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/>
              <a:t>입사각을 구하려면 </a:t>
            </a:r>
            <a:endParaRPr lang="en-US" altLang="ko-KR" sz="3600" dirty="0"/>
          </a:p>
          <a:p>
            <a:r>
              <a:rPr lang="ko-KR" altLang="en-US" sz="3600" b="1" dirty="0"/>
              <a:t>법선 벡터 </a:t>
            </a:r>
            <a:r>
              <a:rPr lang="en-US" altLang="ko-KR" sz="3600" b="1" dirty="0"/>
              <a:t>(Normal) </a:t>
            </a:r>
            <a:r>
              <a:rPr lang="ko-KR" altLang="en-US" sz="3600" dirty="0"/>
              <a:t>이 필요하다</a:t>
            </a:r>
            <a:r>
              <a:rPr lang="en-US" altLang="ko-KR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5225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A57B4F8-D9BE-440A-BCC6-A18763FB2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배경지식 </a:t>
            </a:r>
            <a:r>
              <a:rPr lang="en-US" altLang="ko-KR" dirty="0"/>
              <a:t>– </a:t>
            </a:r>
            <a:r>
              <a:rPr lang="ko-KR" altLang="en-US" dirty="0"/>
              <a:t>빛 렌더링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B2073617-F32B-4614-9E8B-A83F73158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ko-KR" altLang="en-US" dirty="0"/>
              <a:t>빛은 입체감을 높인다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xmlns="" id="{97CA0756-AD9B-4A35-97B3-5FD69886E1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6882974"/>
              </p:ext>
            </p:extLst>
          </p:nvPr>
        </p:nvGraphicFramePr>
        <p:xfrm>
          <a:off x="1104899" y="2552345"/>
          <a:ext cx="3763433" cy="3624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5" r:id="rId3" imgW="1549440" imgH="1492200" progId="">
                  <p:embed/>
                </p:oleObj>
              </mc:Choice>
              <mc:Fallback>
                <p:oleObj r:id="rId3" imgW="1549440" imgH="14922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4899" y="2552345"/>
                        <a:ext cx="3763433" cy="36246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xmlns="" id="{DF777003-9534-4FC8-AD52-26EEBFF6DB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007693"/>
              </p:ext>
            </p:extLst>
          </p:nvPr>
        </p:nvGraphicFramePr>
        <p:xfrm>
          <a:off x="5308600" y="2539412"/>
          <a:ext cx="3653366" cy="3637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6" r:id="rId5" imgW="1467000" imgH="1460520" progId="">
                  <p:embed/>
                </p:oleObj>
              </mc:Choice>
              <mc:Fallback>
                <p:oleObj r:id="rId5" imgW="1467000" imgH="146052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08600" y="2539412"/>
                        <a:ext cx="3653366" cy="36375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01992CB-27EF-45E0-9F79-8B5211F622F5}"/>
              </a:ext>
            </a:extLst>
          </p:cNvPr>
          <p:cNvSpPr txBox="1"/>
          <p:nvPr/>
        </p:nvSpPr>
        <p:spPr>
          <a:xfrm>
            <a:off x="2614613" y="6231265"/>
            <a:ext cx="1508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빛 </a:t>
            </a:r>
            <a:r>
              <a:rPr lang="en-US" altLang="ko-KR" sz="2800" dirty="0"/>
              <a:t>X</a:t>
            </a:r>
            <a:endParaRPr lang="el-GR" altLang="ko-KR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51EC03D-82CD-4351-8210-FAF54339AEAF}"/>
              </a:ext>
            </a:extLst>
          </p:cNvPr>
          <p:cNvSpPr txBox="1"/>
          <p:nvPr/>
        </p:nvSpPr>
        <p:spPr>
          <a:xfrm>
            <a:off x="6653213" y="6231265"/>
            <a:ext cx="1508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빛 </a:t>
            </a:r>
            <a:r>
              <a:rPr lang="en-US" altLang="ko-KR" sz="2800" dirty="0"/>
              <a:t>O</a:t>
            </a:r>
            <a:endParaRPr lang="el-GR" altLang="ko-KR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5C8F186-DC89-4BEA-9C87-8E5AE09D76C5}"/>
              </a:ext>
            </a:extLst>
          </p:cNvPr>
          <p:cNvSpPr txBox="1"/>
          <p:nvPr/>
        </p:nvSpPr>
        <p:spPr>
          <a:xfrm>
            <a:off x="9260418" y="3877532"/>
            <a:ext cx="36533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힘의</a:t>
            </a:r>
            <a:r>
              <a:rPr lang="en-US" altLang="ko-KR" sz="3200" dirty="0"/>
              <a:t> </a:t>
            </a:r>
            <a:r>
              <a:rPr lang="ko-KR" altLang="en-US" sz="3200" dirty="0"/>
              <a:t>차이가</a:t>
            </a:r>
            <a:endParaRPr lang="en-US" altLang="ko-KR" sz="3200" dirty="0"/>
          </a:p>
          <a:p>
            <a:r>
              <a:rPr lang="ko-KR" altLang="en-US" sz="3200" dirty="0" err="1"/>
              <a:t>느껴지십니까</a:t>
            </a:r>
            <a:r>
              <a:rPr lang="en-US" altLang="ko-KR" sz="3200" dirty="0"/>
              <a:t>?</a:t>
            </a:r>
            <a:endParaRPr lang="el-GR" altLang="ko-KR" sz="3200" dirty="0"/>
          </a:p>
        </p:txBody>
      </p:sp>
    </p:spTree>
    <p:extLst>
      <p:ext uri="{BB962C8B-B14F-4D97-AF65-F5344CB8AC3E}">
        <p14:creationId xmlns:p14="http://schemas.microsoft.com/office/powerpoint/2010/main" val="2905394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55159E-3797-4E86-9DD9-641F86D57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배경지식 </a:t>
            </a:r>
            <a:r>
              <a:rPr lang="en-US" altLang="ko-KR" dirty="0"/>
              <a:t>– </a:t>
            </a:r>
            <a:r>
              <a:rPr lang="ko-KR" altLang="en-US" dirty="0"/>
              <a:t>재질</a:t>
            </a:r>
            <a:r>
              <a:rPr lang="en-US" altLang="ko-KR" dirty="0"/>
              <a:t>(Material)</a:t>
            </a:r>
            <a:r>
              <a:rPr lang="ko-KR" altLang="en-US" dirty="0"/>
              <a:t> 렌더링</a:t>
            </a:r>
          </a:p>
        </p:txBody>
      </p:sp>
      <p:pic>
        <p:nvPicPr>
          <p:cNvPr id="7170" name="Picture 2" descr="한 문장 연습 : 네이버 블로그">
            <a:extLst>
              <a:ext uri="{FF2B5EF4-FFF2-40B4-BE49-F238E27FC236}">
                <a16:creationId xmlns:a16="http://schemas.microsoft.com/office/drawing/2014/main" xmlns="" id="{BEEB7DBD-362E-4694-95C6-826C46AB2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017" y="2081741"/>
            <a:ext cx="78105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7A355DFA-4DA4-4FEF-9634-7DE6397AB9BC}"/>
              </a:ext>
            </a:extLst>
          </p:cNvPr>
          <p:cNvSpPr/>
          <p:nvPr/>
        </p:nvSpPr>
        <p:spPr>
          <a:xfrm>
            <a:off x="3217334" y="3148014"/>
            <a:ext cx="1803400" cy="822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금속 재질인가</a:t>
            </a:r>
            <a:r>
              <a:rPr lang="en-US" altLang="ko-KR" dirty="0"/>
              <a:t>?</a:t>
            </a:r>
          </a:p>
          <a:p>
            <a:pPr algn="ctr"/>
            <a:r>
              <a:rPr lang="en-US" altLang="ko-KR" dirty="0"/>
              <a:t>(Metallic)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618B9A04-F632-4074-BD7B-746B45C99E12}"/>
              </a:ext>
            </a:extLst>
          </p:cNvPr>
          <p:cNvSpPr/>
          <p:nvPr/>
        </p:nvSpPr>
        <p:spPr>
          <a:xfrm>
            <a:off x="5707592" y="2323575"/>
            <a:ext cx="1803400" cy="822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거칠기 정도는</a:t>
            </a:r>
            <a:r>
              <a:rPr lang="en-US" altLang="ko-KR" dirty="0"/>
              <a:t>?</a:t>
            </a:r>
          </a:p>
          <a:p>
            <a:pPr algn="ctr"/>
            <a:r>
              <a:rPr lang="en-US" altLang="ko-KR" dirty="0"/>
              <a:t>(Roughness)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1C285824-2E1C-4EBD-A176-FC681F2B1A0B}"/>
              </a:ext>
            </a:extLst>
          </p:cNvPr>
          <p:cNvSpPr/>
          <p:nvPr/>
        </p:nvSpPr>
        <p:spPr>
          <a:xfrm>
            <a:off x="5487459" y="4440241"/>
            <a:ext cx="1803400" cy="822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발광 정도는</a:t>
            </a:r>
            <a:r>
              <a:rPr lang="en-US" altLang="ko-KR" dirty="0"/>
              <a:t>?</a:t>
            </a:r>
          </a:p>
          <a:p>
            <a:pPr algn="ctr"/>
            <a:r>
              <a:rPr lang="en-US" altLang="ko-KR" dirty="0"/>
              <a:t>(Emission)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4921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55159E-3797-4E86-9DD9-641F86D57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배경지식 </a:t>
            </a:r>
            <a:r>
              <a:rPr lang="en-US" altLang="ko-KR" dirty="0"/>
              <a:t>– </a:t>
            </a:r>
            <a:r>
              <a:rPr lang="ko-KR" altLang="en-US" dirty="0"/>
              <a:t>재질</a:t>
            </a:r>
            <a:r>
              <a:rPr lang="en-US" altLang="ko-KR" dirty="0"/>
              <a:t>(Material)</a:t>
            </a:r>
            <a:r>
              <a:rPr lang="ko-KR" altLang="en-US" dirty="0"/>
              <a:t> 렌더링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3C595CF-34BC-4379-AF26-F3BFDCFB4974}"/>
              </a:ext>
            </a:extLst>
          </p:cNvPr>
          <p:cNvSpPr txBox="1"/>
          <p:nvPr/>
        </p:nvSpPr>
        <p:spPr>
          <a:xfrm>
            <a:off x="6830012" y="1771322"/>
            <a:ext cx="754538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물체의 재질마다</a:t>
            </a:r>
            <a:endParaRPr lang="en-US" altLang="ko-KR" sz="2800" dirty="0"/>
          </a:p>
          <a:p>
            <a:r>
              <a:rPr lang="ko-KR" altLang="en-US" sz="2800" dirty="0"/>
              <a:t>빛 반사 수식을 </a:t>
            </a:r>
            <a:r>
              <a:rPr lang="ko-KR" altLang="en-US" sz="2800" dirty="0" err="1"/>
              <a:t>디테일하게</a:t>
            </a:r>
            <a:endParaRPr lang="en-US" altLang="ko-KR" sz="2800" dirty="0"/>
          </a:p>
          <a:p>
            <a:r>
              <a:rPr lang="ko-KR" altLang="en-US" sz="2800" dirty="0"/>
              <a:t>설정하기 위해서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en-US" altLang="ko-KR" sz="2800" dirty="0"/>
              <a:t>Emission (</a:t>
            </a:r>
            <a:r>
              <a:rPr lang="ko-KR" altLang="en-US" sz="2800" dirty="0"/>
              <a:t>발광정도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Metallic (</a:t>
            </a:r>
            <a:r>
              <a:rPr lang="ko-KR" altLang="en-US" sz="2800" dirty="0"/>
              <a:t>금속 재질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Roughness (</a:t>
            </a:r>
            <a:r>
              <a:rPr lang="ko-KR" altLang="en-US" sz="2800" dirty="0"/>
              <a:t>거칠기 정도</a:t>
            </a:r>
            <a:r>
              <a:rPr lang="en-US" altLang="ko-KR" sz="2800" dirty="0"/>
              <a:t>)</a:t>
            </a:r>
          </a:p>
          <a:p>
            <a:endParaRPr lang="en-US" altLang="ko-KR" sz="2800" dirty="0"/>
          </a:p>
          <a:p>
            <a:r>
              <a:rPr lang="ko-KR" altLang="en-US" sz="2800" dirty="0"/>
              <a:t>등을 빛 반사 공식에 적절히</a:t>
            </a:r>
            <a:endParaRPr lang="en-US" altLang="ko-KR" sz="2800" dirty="0"/>
          </a:p>
          <a:p>
            <a:r>
              <a:rPr lang="ko-KR" altLang="en-US" sz="2800" dirty="0"/>
              <a:t>섞을 수 있음</a:t>
            </a:r>
            <a:endParaRPr lang="en-US" altLang="ko-KR" sz="2800" dirty="0"/>
          </a:p>
        </p:txBody>
      </p:sp>
      <p:pic>
        <p:nvPicPr>
          <p:cNvPr id="8194" name="Picture 2" descr="What are 'physically-based' lighting/rendering/materials? - Stack Overflow">
            <a:extLst>
              <a:ext uri="{FF2B5EF4-FFF2-40B4-BE49-F238E27FC236}">
                <a16:creationId xmlns:a16="http://schemas.microsoft.com/office/drawing/2014/main" xmlns="" id="{719BFEC6-A171-45AE-9A93-B1FA232EB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17" y="1690688"/>
            <a:ext cx="5829300" cy="456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1909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55159E-3797-4E86-9DD9-641F86D57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배경지식 </a:t>
            </a:r>
            <a:r>
              <a:rPr lang="en-US" altLang="ko-KR" dirty="0"/>
              <a:t>– </a:t>
            </a:r>
            <a:r>
              <a:rPr lang="ko-KR" altLang="en-US" dirty="0"/>
              <a:t>재질</a:t>
            </a:r>
            <a:r>
              <a:rPr lang="en-US" altLang="ko-KR" dirty="0"/>
              <a:t>(Material)</a:t>
            </a:r>
            <a:r>
              <a:rPr lang="ko-KR" altLang="en-US" dirty="0"/>
              <a:t> 렌더링</a:t>
            </a:r>
          </a:p>
        </p:txBody>
      </p:sp>
      <p:sp>
        <p:nvSpPr>
          <p:cNvPr id="26" name="내용 개체 틀 2">
            <a:extLst>
              <a:ext uri="{FF2B5EF4-FFF2-40B4-BE49-F238E27FC236}">
                <a16:creationId xmlns:a16="http://schemas.microsoft.com/office/drawing/2014/main" xmlns="" id="{BB1B9463-5724-46E5-90CD-84B216906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ko-KR" altLang="en-US" dirty="0" err="1"/>
              <a:t>언리얼</a:t>
            </a:r>
            <a:r>
              <a:rPr lang="ko-KR" altLang="en-US" dirty="0"/>
              <a:t> 엔진 </a:t>
            </a:r>
            <a:r>
              <a:rPr lang="en-US" altLang="ko-KR" dirty="0"/>
              <a:t>4</a:t>
            </a:r>
            <a:r>
              <a:rPr lang="ko-KR" altLang="en-US" dirty="0"/>
              <a:t>에서 실제로 사용하는 수식</a:t>
            </a:r>
            <a:endParaRPr lang="en-US" altLang="ko-KR" dirty="0"/>
          </a:p>
          <a:p>
            <a:r>
              <a:rPr lang="ko-KR" altLang="en-US" dirty="0"/>
              <a:t>난반사광</a:t>
            </a:r>
            <a:r>
              <a:rPr lang="en-US" altLang="ko-KR" dirty="0"/>
              <a:t> </a:t>
            </a:r>
            <a:r>
              <a:rPr lang="ko-KR" altLang="en-US" dirty="0"/>
              <a:t>계산</a:t>
            </a:r>
            <a:endParaRPr lang="en-US" altLang="ko-KR" dirty="0"/>
          </a:p>
          <a:p>
            <a:r>
              <a:rPr lang="ko-KR" altLang="en-US" dirty="0"/>
              <a:t>정반사광 계산</a:t>
            </a:r>
            <a:endParaRPr lang="en-US" altLang="ko-KR" dirty="0"/>
          </a:p>
        </p:txBody>
      </p:sp>
      <p:sp>
        <p:nvSpPr>
          <p:cNvPr id="13" name="화살표: 왼쪽 12">
            <a:extLst>
              <a:ext uri="{FF2B5EF4-FFF2-40B4-BE49-F238E27FC236}">
                <a16:creationId xmlns:a16="http://schemas.microsoft.com/office/drawing/2014/main" xmlns="" id="{EE51F69E-EAA8-42EA-928A-5C545090A909}"/>
              </a:ext>
            </a:extLst>
          </p:cNvPr>
          <p:cNvSpPr/>
          <p:nvPr/>
        </p:nvSpPr>
        <p:spPr>
          <a:xfrm>
            <a:off x="3656476" y="2400080"/>
            <a:ext cx="3180853" cy="36406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2FDEE3A5-3106-4B95-B427-F426C895F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404" y="2389681"/>
            <a:ext cx="1819529" cy="50489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87710BCF-5702-4998-8B06-A8E36F03D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404" y="3153789"/>
            <a:ext cx="3343742" cy="60968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B5362A80-8018-4BD6-BF87-F34845DEC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825" y="3732288"/>
            <a:ext cx="3762900" cy="8954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xmlns="" id="{0FE4A29B-4AEF-4BE8-A22B-F9AE4BF3FE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322" y="4383046"/>
            <a:ext cx="3677163" cy="203863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xmlns="" id="{F379D07F-C437-4536-979F-BF921B74E8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3375" y="6302375"/>
            <a:ext cx="5010849" cy="485843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F79AE45D-D9D7-4C55-8D33-6676B5D9191D}"/>
              </a:ext>
            </a:extLst>
          </p:cNvPr>
          <p:cNvSpPr/>
          <p:nvPr/>
        </p:nvSpPr>
        <p:spPr>
          <a:xfrm>
            <a:off x="7087404" y="2389681"/>
            <a:ext cx="1650196" cy="6096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xmlns="" id="{8E09F661-5376-43FE-AF28-76ACAECF4C44}"/>
              </a:ext>
            </a:extLst>
          </p:cNvPr>
          <p:cNvSpPr/>
          <p:nvPr/>
        </p:nvSpPr>
        <p:spPr>
          <a:xfrm>
            <a:off x="7053536" y="3108404"/>
            <a:ext cx="4850168" cy="36580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화살표: 왼쪽 35">
            <a:extLst>
              <a:ext uri="{FF2B5EF4-FFF2-40B4-BE49-F238E27FC236}">
                <a16:creationId xmlns:a16="http://schemas.microsoft.com/office/drawing/2014/main" xmlns="" id="{7C9E073A-6B83-45E4-982F-6BE7BFDE25BD}"/>
              </a:ext>
            </a:extLst>
          </p:cNvPr>
          <p:cNvSpPr/>
          <p:nvPr/>
        </p:nvSpPr>
        <p:spPr>
          <a:xfrm rot="712346">
            <a:off x="3626956" y="3209530"/>
            <a:ext cx="3239894" cy="36406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A86C48C8-C90E-4A32-AB14-736DB64DFA62}"/>
              </a:ext>
            </a:extLst>
          </p:cNvPr>
          <p:cNvSpPr/>
          <p:nvPr/>
        </p:nvSpPr>
        <p:spPr>
          <a:xfrm>
            <a:off x="288296" y="599873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>
                <a:hlinkClick r:id="rId7"/>
              </a:rPr>
              <a:t>https://cdn2.unrealengine.com/Resources/files/2013SiggraphPresentationsNotes-26915738.pdf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95854034-EA23-4A44-9238-BB3C179DC91E}"/>
              </a:ext>
            </a:extLst>
          </p:cNvPr>
          <p:cNvSpPr txBox="1"/>
          <p:nvPr/>
        </p:nvSpPr>
        <p:spPr>
          <a:xfrm>
            <a:off x="315808" y="5537071"/>
            <a:ext cx="3281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자세한 것은 논문 참고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876930D0-0683-47A7-8D1B-452190CD9FD2}"/>
              </a:ext>
            </a:extLst>
          </p:cNvPr>
          <p:cNvSpPr txBox="1"/>
          <p:nvPr/>
        </p:nvSpPr>
        <p:spPr>
          <a:xfrm>
            <a:off x="589664" y="3860194"/>
            <a:ext cx="536877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결론</a:t>
            </a:r>
            <a:endParaRPr lang="en-US" altLang="ko-KR" sz="3200" b="1" dirty="0"/>
          </a:p>
          <a:p>
            <a:r>
              <a:rPr lang="en-US" altLang="ko-KR" sz="3200" b="1" dirty="0"/>
              <a:t>   </a:t>
            </a:r>
            <a:r>
              <a:rPr lang="ko-KR" altLang="en-US" sz="3200" b="1" dirty="0"/>
              <a:t>아</a:t>
            </a:r>
            <a:r>
              <a:rPr lang="en-US" altLang="ko-KR" sz="3200" b="1" dirty="0"/>
              <a:t>.. </a:t>
            </a:r>
            <a:r>
              <a:rPr lang="ko-KR" altLang="en-US" sz="3200" b="1" dirty="0" err="1"/>
              <a:t>계산량이</a:t>
            </a:r>
            <a:r>
              <a:rPr lang="ko-KR" altLang="en-US" sz="3200" b="1" dirty="0"/>
              <a:t> 엄청 많구나</a:t>
            </a:r>
          </a:p>
        </p:txBody>
      </p:sp>
    </p:spTree>
    <p:extLst>
      <p:ext uri="{BB962C8B-B14F-4D97-AF65-F5344CB8AC3E}">
        <p14:creationId xmlns:p14="http://schemas.microsoft.com/office/powerpoint/2010/main" val="3469543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55159E-3797-4E86-9DD9-641F86D57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그래서 </a:t>
            </a:r>
            <a:r>
              <a:rPr lang="en-US" altLang="ko-KR" dirty="0"/>
              <a:t>3D</a:t>
            </a:r>
            <a:r>
              <a:rPr lang="ko-KR" altLang="en-US" dirty="0"/>
              <a:t> 물체를 제대로 그리기 위해선</a:t>
            </a:r>
            <a:r>
              <a:rPr lang="en-US" altLang="ko-KR" dirty="0"/>
              <a:t>..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1986E898-B918-44FA-A69E-91D871A97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ko-KR" altLang="en-US" dirty="0"/>
              <a:t>픽셀의 </a:t>
            </a:r>
            <a:r>
              <a:rPr lang="ko-KR" altLang="en-US" b="1" dirty="0"/>
              <a:t>위치</a:t>
            </a:r>
            <a:r>
              <a:rPr lang="ko-KR" altLang="en-US" dirty="0"/>
              <a:t>와 </a:t>
            </a:r>
            <a:r>
              <a:rPr lang="ko-KR" altLang="en-US" b="1" dirty="0"/>
              <a:t>색</a:t>
            </a:r>
            <a:r>
              <a:rPr lang="ko-KR" altLang="en-US" dirty="0"/>
              <a:t>을 결정해야한다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색</a:t>
            </a:r>
            <a:r>
              <a:rPr lang="ko-KR" altLang="en-US" dirty="0"/>
              <a:t>을 결정하기 위해서는 </a:t>
            </a:r>
            <a:r>
              <a:rPr lang="ko-KR" altLang="en-US" b="1" dirty="0"/>
              <a:t>빛</a:t>
            </a:r>
            <a:r>
              <a:rPr lang="en-US" altLang="ko-KR" b="1" dirty="0"/>
              <a:t>, </a:t>
            </a:r>
            <a:r>
              <a:rPr lang="ko-KR" altLang="en-US" b="1" dirty="0"/>
              <a:t>재질</a:t>
            </a:r>
            <a:r>
              <a:rPr lang="en-US" altLang="ko-KR" b="1" dirty="0"/>
              <a:t>, </a:t>
            </a:r>
            <a:r>
              <a:rPr lang="ko-KR" altLang="en-US" b="1" dirty="0"/>
              <a:t>법선 벡터</a:t>
            </a:r>
            <a:r>
              <a:rPr lang="ko-KR" altLang="en-US" dirty="0"/>
              <a:t> 가 필요하다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더하여</a:t>
            </a:r>
            <a:r>
              <a:rPr lang="en-US" altLang="ko-KR" dirty="0"/>
              <a:t>.. 3D </a:t>
            </a:r>
            <a:r>
              <a:rPr lang="ko-KR" altLang="en-US" dirty="0"/>
              <a:t>물체들끼리 멀고 가까움을 표현하기 위해 </a:t>
            </a:r>
            <a:r>
              <a:rPr lang="ko-KR" altLang="en-US" b="1" dirty="0"/>
              <a:t>깊이</a:t>
            </a:r>
            <a:r>
              <a:rPr lang="ko-KR" altLang="en-US" dirty="0"/>
              <a:t>가 필요하다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922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55159E-3797-4E86-9DD9-641F86D57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그래서 </a:t>
            </a:r>
            <a:r>
              <a:rPr lang="en-US" altLang="ko-KR" dirty="0"/>
              <a:t>3D</a:t>
            </a:r>
            <a:r>
              <a:rPr lang="ko-KR" altLang="en-US" dirty="0"/>
              <a:t> 물체를 제대로 그리기 위해선</a:t>
            </a:r>
            <a:r>
              <a:rPr lang="en-US" altLang="ko-KR" dirty="0"/>
              <a:t>..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24307878-C7AF-4053-9B52-98D7BC127EF0}"/>
              </a:ext>
            </a:extLst>
          </p:cNvPr>
          <p:cNvSpPr/>
          <p:nvPr/>
        </p:nvSpPr>
        <p:spPr>
          <a:xfrm>
            <a:off x="7247465" y="3992032"/>
            <a:ext cx="2201333" cy="567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픽셀의 색상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CCD3EF24-0D07-4218-B2D9-BA7850B1E299}"/>
              </a:ext>
            </a:extLst>
          </p:cNvPr>
          <p:cNvSpPr/>
          <p:nvPr/>
        </p:nvSpPr>
        <p:spPr>
          <a:xfrm>
            <a:off x="9753600" y="3604682"/>
            <a:ext cx="2201333" cy="567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픽셀 렌더링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DBB8CC8D-96E1-465F-9989-3F54D426EE9D}"/>
              </a:ext>
            </a:extLst>
          </p:cNvPr>
          <p:cNvSpPr/>
          <p:nvPr/>
        </p:nvSpPr>
        <p:spPr>
          <a:xfrm>
            <a:off x="254001" y="2913592"/>
            <a:ext cx="3064932" cy="20642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5A16051D-0259-4C81-84A7-8CF1E38B8E1A}"/>
              </a:ext>
            </a:extLst>
          </p:cNvPr>
          <p:cNvSpPr/>
          <p:nvPr/>
        </p:nvSpPr>
        <p:spPr>
          <a:xfrm>
            <a:off x="7247466" y="3238499"/>
            <a:ext cx="2201333" cy="567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픽셀의 </a:t>
            </a:r>
            <a:r>
              <a:rPr lang="en-US" altLang="ko-KR" b="1" dirty="0"/>
              <a:t>x, y</a:t>
            </a:r>
            <a:r>
              <a:rPr lang="ko-KR" altLang="en-US" b="1" dirty="0"/>
              <a:t> 좌표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30C19179-4C99-4B04-95DA-5B0E874A2407}"/>
              </a:ext>
            </a:extLst>
          </p:cNvPr>
          <p:cNvSpPr/>
          <p:nvPr/>
        </p:nvSpPr>
        <p:spPr>
          <a:xfrm>
            <a:off x="3471334" y="2108202"/>
            <a:ext cx="3064932" cy="376819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413A36C6-457F-410F-9C35-8C010C98EE71}"/>
              </a:ext>
            </a:extLst>
          </p:cNvPr>
          <p:cNvSpPr/>
          <p:nvPr/>
        </p:nvSpPr>
        <p:spPr>
          <a:xfrm>
            <a:off x="685800" y="2691868"/>
            <a:ext cx="2201333" cy="56726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광원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xmlns="" id="{C1E0B08C-6869-4DD6-A0BE-226796FF3630}"/>
              </a:ext>
            </a:extLst>
          </p:cNvPr>
          <p:cNvSpPr/>
          <p:nvPr/>
        </p:nvSpPr>
        <p:spPr>
          <a:xfrm>
            <a:off x="3903133" y="1885155"/>
            <a:ext cx="2201333" cy="56726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3D</a:t>
            </a:r>
            <a:r>
              <a:rPr lang="ko-KR" altLang="en-US" b="1" dirty="0"/>
              <a:t> 모델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xmlns="" id="{9003FB0E-8569-44D7-A8F3-3C8C7A01C834}"/>
              </a:ext>
            </a:extLst>
          </p:cNvPr>
          <p:cNvSpPr/>
          <p:nvPr/>
        </p:nvSpPr>
        <p:spPr>
          <a:xfrm>
            <a:off x="3568699" y="2582597"/>
            <a:ext cx="2870202" cy="43127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법선 벡터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xmlns="" id="{24289DB3-AEF0-4DC6-A4D2-900259CF3169}"/>
              </a:ext>
            </a:extLst>
          </p:cNvPr>
          <p:cNvSpPr/>
          <p:nvPr/>
        </p:nvSpPr>
        <p:spPr>
          <a:xfrm>
            <a:off x="3568699" y="3127375"/>
            <a:ext cx="2870202" cy="43127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모델의 </a:t>
            </a:r>
            <a:r>
              <a:rPr lang="en-US" altLang="ko-KR" b="1" dirty="0"/>
              <a:t>x, y, z </a:t>
            </a:r>
            <a:r>
              <a:rPr lang="ko-KR" altLang="en-US" b="1" dirty="0"/>
              <a:t>좌표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xmlns="" id="{295C014F-BDE1-4A5E-9002-93CE64188BE9}"/>
              </a:ext>
            </a:extLst>
          </p:cNvPr>
          <p:cNvSpPr/>
          <p:nvPr/>
        </p:nvSpPr>
        <p:spPr>
          <a:xfrm>
            <a:off x="3568698" y="3674797"/>
            <a:ext cx="2870202" cy="43127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Metallic (</a:t>
            </a:r>
            <a:r>
              <a:rPr lang="ko-KR" altLang="en-US" b="1" dirty="0"/>
              <a:t>재질</a:t>
            </a:r>
            <a:r>
              <a:rPr lang="en-US" altLang="ko-KR" b="1" dirty="0"/>
              <a:t>)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xmlns="" id="{6A069A5E-CCAF-46B5-8308-83A988BF1BE2}"/>
              </a:ext>
            </a:extLst>
          </p:cNvPr>
          <p:cNvSpPr/>
          <p:nvPr/>
        </p:nvSpPr>
        <p:spPr>
          <a:xfrm>
            <a:off x="3568698" y="4242327"/>
            <a:ext cx="2870202" cy="43127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Roughness (</a:t>
            </a:r>
            <a:r>
              <a:rPr lang="ko-KR" altLang="en-US" b="1" dirty="0"/>
              <a:t>재질</a:t>
            </a:r>
            <a:r>
              <a:rPr lang="en-US" altLang="ko-KR" b="1" dirty="0"/>
              <a:t>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F30C79EE-F2E8-4DFE-9347-C5080F6D6594}"/>
              </a:ext>
            </a:extLst>
          </p:cNvPr>
          <p:cNvSpPr/>
          <p:nvPr/>
        </p:nvSpPr>
        <p:spPr>
          <a:xfrm>
            <a:off x="3568698" y="4809857"/>
            <a:ext cx="2870202" cy="43127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Emission (</a:t>
            </a:r>
            <a:r>
              <a:rPr lang="ko-KR" altLang="en-US" b="1" dirty="0"/>
              <a:t>발광</a:t>
            </a:r>
            <a:r>
              <a:rPr lang="en-US" altLang="ko-KR" b="1" dirty="0"/>
              <a:t>)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C7D16C8A-E3C3-4276-B058-821E4D93F1C0}"/>
              </a:ext>
            </a:extLst>
          </p:cNvPr>
          <p:cNvSpPr/>
          <p:nvPr/>
        </p:nvSpPr>
        <p:spPr>
          <a:xfrm>
            <a:off x="3581400" y="5345641"/>
            <a:ext cx="2870202" cy="43127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깊이</a:t>
            </a:r>
            <a:endParaRPr lang="en-US" altLang="ko-KR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69DCF415-4A4F-4B4B-9032-404ED089FEA8}"/>
              </a:ext>
            </a:extLst>
          </p:cNvPr>
          <p:cNvSpPr/>
          <p:nvPr/>
        </p:nvSpPr>
        <p:spPr>
          <a:xfrm>
            <a:off x="351365" y="3374494"/>
            <a:ext cx="2870202" cy="43127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빛의 색상</a:t>
            </a:r>
            <a:endParaRPr lang="en-US" altLang="ko-KR" b="1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99D0A593-C69F-4364-9A21-FDD19EBA3262}"/>
              </a:ext>
            </a:extLst>
          </p:cNvPr>
          <p:cNvSpPr/>
          <p:nvPr/>
        </p:nvSpPr>
        <p:spPr>
          <a:xfrm>
            <a:off x="351365" y="3891756"/>
            <a:ext cx="2870202" cy="43127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빛의 세기</a:t>
            </a:r>
            <a:endParaRPr lang="en-US" altLang="ko-KR" b="1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6C5C5503-159D-4268-BB22-37C32F38375B}"/>
              </a:ext>
            </a:extLst>
          </p:cNvPr>
          <p:cNvSpPr/>
          <p:nvPr/>
        </p:nvSpPr>
        <p:spPr>
          <a:xfrm>
            <a:off x="342900" y="4409018"/>
            <a:ext cx="2870202" cy="43127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빛의 위치</a:t>
            </a:r>
            <a:endParaRPr lang="en-US" altLang="ko-KR" b="1" dirty="0"/>
          </a:p>
        </p:txBody>
      </p:sp>
      <p:sp>
        <p:nvSpPr>
          <p:cNvPr id="8" name="더하기 기호 7">
            <a:extLst>
              <a:ext uri="{FF2B5EF4-FFF2-40B4-BE49-F238E27FC236}">
                <a16:creationId xmlns:a16="http://schemas.microsoft.com/office/drawing/2014/main" xmlns="" id="{2C2B9186-439D-45DD-9121-65A6EF61F876}"/>
              </a:ext>
            </a:extLst>
          </p:cNvPr>
          <p:cNvSpPr/>
          <p:nvPr/>
        </p:nvSpPr>
        <p:spPr>
          <a:xfrm>
            <a:off x="2576642" y="3273419"/>
            <a:ext cx="1441717" cy="1441717"/>
          </a:xfrm>
          <a:prstGeom prst="mathPlus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더하기 기호 25">
            <a:extLst>
              <a:ext uri="{FF2B5EF4-FFF2-40B4-BE49-F238E27FC236}">
                <a16:creationId xmlns:a16="http://schemas.microsoft.com/office/drawing/2014/main" xmlns="" id="{6971EED0-5760-47E1-97BB-6D8E1498B844}"/>
              </a:ext>
            </a:extLst>
          </p:cNvPr>
          <p:cNvSpPr/>
          <p:nvPr/>
        </p:nvSpPr>
        <p:spPr>
          <a:xfrm>
            <a:off x="7991106" y="3573724"/>
            <a:ext cx="714049" cy="701941"/>
          </a:xfrm>
          <a:prstGeom prst="mathPlus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xmlns="" id="{4F2934CC-226B-4F1D-AAED-B8B19F1C40B7}"/>
              </a:ext>
            </a:extLst>
          </p:cNvPr>
          <p:cNvSpPr/>
          <p:nvPr/>
        </p:nvSpPr>
        <p:spPr>
          <a:xfrm>
            <a:off x="6161883" y="3530996"/>
            <a:ext cx="1335349" cy="736600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xmlns="" id="{88C7BF75-6403-4747-98C3-16404C97C357}"/>
              </a:ext>
            </a:extLst>
          </p:cNvPr>
          <p:cNvSpPr/>
          <p:nvPr/>
        </p:nvSpPr>
        <p:spPr>
          <a:xfrm>
            <a:off x="9390991" y="3430451"/>
            <a:ext cx="438807" cy="954617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800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55159E-3797-4E86-9DD9-641F86D57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색상을 결정하기 위해서는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F6B2E9CA-B612-489F-B0AB-11B22309C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20471"/>
            <a:ext cx="4617526" cy="45724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6F45D71-5053-4607-B9FA-D5644F54CF6C}"/>
              </a:ext>
            </a:extLst>
          </p:cNvPr>
          <p:cNvSpPr txBox="1"/>
          <p:nvPr/>
        </p:nvSpPr>
        <p:spPr>
          <a:xfrm>
            <a:off x="5703946" y="1886605"/>
            <a:ext cx="754538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픽셀 하나 당</a:t>
            </a:r>
            <a:endParaRPr lang="en-US" altLang="ko-KR" sz="2800" b="1" dirty="0"/>
          </a:p>
          <a:p>
            <a:r>
              <a:rPr lang="ko-KR" altLang="en-US" sz="2800" b="1" dirty="0"/>
              <a:t>빛과 재질 수식을 모두 적용해야 함</a:t>
            </a:r>
            <a:endParaRPr lang="en-US" altLang="ko-KR" sz="2800" b="1" dirty="0"/>
          </a:p>
          <a:p>
            <a:endParaRPr lang="en-US" altLang="ko-KR" sz="2800" dirty="0"/>
          </a:p>
          <a:p>
            <a:r>
              <a:rPr lang="ko-KR" altLang="en-US" sz="2800" dirty="0"/>
              <a:t>즉</a:t>
            </a:r>
            <a:r>
              <a:rPr lang="en-US" altLang="ko-KR" sz="2800" dirty="0"/>
              <a:t>, 1280 x 720 </a:t>
            </a:r>
            <a:r>
              <a:rPr lang="ko-KR" altLang="en-US" sz="2800" dirty="0"/>
              <a:t>게임을 실행한다면</a:t>
            </a:r>
            <a:endParaRPr lang="en-US" altLang="ko-KR" sz="2800" dirty="0"/>
          </a:p>
          <a:p>
            <a:r>
              <a:rPr lang="ko-KR" altLang="en-US" sz="2800" dirty="0"/>
              <a:t>앞서 말한 수식을</a:t>
            </a:r>
            <a:r>
              <a:rPr lang="en-US" altLang="ko-KR" sz="2800" dirty="0"/>
              <a:t> </a:t>
            </a:r>
          </a:p>
          <a:p>
            <a:endParaRPr lang="en-US" altLang="ko-KR" sz="2800" dirty="0"/>
          </a:p>
          <a:p>
            <a:r>
              <a:rPr lang="en-US" altLang="ko-KR" sz="2800" dirty="0"/>
              <a:t>1</a:t>
            </a:r>
            <a:r>
              <a:rPr lang="ko-KR" altLang="en-US" sz="2800" dirty="0"/>
              <a:t>초에 </a:t>
            </a:r>
            <a:r>
              <a:rPr lang="en-US" altLang="ko-KR" sz="2800" dirty="0"/>
              <a:t>60</a:t>
            </a:r>
            <a:r>
              <a:rPr lang="ko-KR" altLang="en-US" sz="2800" dirty="0"/>
              <a:t>번 씩</a:t>
            </a:r>
            <a:endParaRPr lang="en-US" altLang="ko-KR" sz="2800" dirty="0"/>
          </a:p>
          <a:p>
            <a:r>
              <a:rPr lang="ko-KR" altLang="en-US" sz="2800" dirty="0"/>
              <a:t>한 번에 </a:t>
            </a:r>
            <a:r>
              <a:rPr lang="en-US" altLang="ko-KR" sz="2800" dirty="0"/>
              <a:t>921,600 </a:t>
            </a:r>
            <a:r>
              <a:rPr lang="ko-KR" altLang="en-US" sz="2800" dirty="0"/>
              <a:t>번 계산해야 함</a:t>
            </a:r>
            <a:endParaRPr lang="en-US" altLang="ko-KR" sz="28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81C7B0E2-2884-4CDF-9E3E-E14B9F42CACA}"/>
              </a:ext>
            </a:extLst>
          </p:cNvPr>
          <p:cNvSpPr/>
          <p:nvPr/>
        </p:nvSpPr>
        <p:spPr>
          <a:xfrm>
            <a:off x="5604932" y="5501138"/>
            <a:ext cx="71533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b="1" dirty="0">
                <a:solidFill>
                  <a:srgbClr val="FF0000"/>
                </a:solidFill>
              </a:rPr>
              <a:t>즉</a:t>
            </a:r>
            <a:r>
              <a:rPr lang="en-US" altLang="ko-KR" sz="3200" b="1" dirty="0">
                <a:solidFill>
                  <a:srgbClr val="FF0000"/>
                </a:solidFill>
              </a:rPr>
              <a:t>, 1</a:t>
            </a:r>
            <a:r>
              <a:rPr lang="ko-KR" altLang="en-US" sz="3200" b="1" dirty="0">
                <a:solidFill>
                  <a:srgbClr val="FF0000"/>
                </a:solidFill>
              </a:rPr>
              <a:t>초에 최소</a:t>
            </a:r>
            <a:endParaRPr lang="en-US" altLang="ko-KR" sz="3200" b="1" dirty="0">
              <a:solidFill>
                <a:srgbClr val="FF0000"/>
              </a:solidFill>
            </a:endParaRPr>
          </a:p>
          <a:p>
            <a:r>
              <a:rPr lang="en-US" altLang="ko-KR" sz="3200" b="1" dirty="0">
                <a:solidFill>
                  <a:srgbClr val="FF0000"/>
                </a:solidFill>
              </a:rPr>
              <a:t>        55,296,000 </a:t>
            </a:r>
            <a:r>
              <a:rPr lang="ko-KR" altLang="en-US" sz="3200" b="1" dirty="0">
                <a:solidFill>
                  <a:srgbClr val="FF0000"/>
                </a:solidFill>
              </a:rPr>
              <a:t>번 수식을 계산</a:t>
            </a:r>
            <a:endParaRPr lang="en-US" altLang="ko-KR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100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55159E-3797-4E86-9DD9-641F86D57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전통적인 렌더링 </a:t>
            </a:r>
            <a:r>
              <a:rPr lang="en-US" altLang="ko-KR" dirty="0"/>
              <a:t>– Forward Rendering</a:t>
            </a:r>
            <a:endParaRPr lang="ko-KR" altLang="en-US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xmlns="" id="{3163BF7E-9BFC-4D6C-82D3-5A6DC995B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40533" cy="4351338"/>
          </a:xfrm>
        </p:spPr>
        <p:txBody>
          <a:bodyPr/>
          <a:lstStyle/>
          <a:p>
            <a:r>
              <a:rPr lang="ko-KR" altLang="en-US" dirty="0"/>
              <a:t>혹은 </a:t>
            </a:r>
            <a:r>
              <a:rPr lang="ko-KR" altLang="en-US" b="1" dirty="0"/>
              <a:t>즉시 렌더링</a:t>
            </a:r>
            <a:endParaRPr lang="en-US" altLang="ko-KR" b="1" dirty="0"/>
          </a:p>
          <a:p>
            <a:r>
              <a:rPr lang="ko-KR" altLang="en-US" dirty="0"/>
              <a:t>앞서 말했듯</a:t>
            </a:r>
            <a:r>
              <a:rPr lang="en-US" altLang="ko-KR" dirty="0"/>
              <a:t> 3D </a:t>
            </a:r>
            <a:r>
              <a:rPr lang="ko-KR" altLang="en-US" dirty="0"/>
              <a:t>물체의 렌더링은</a:t>
            </a:r>
            <a:r>
              <a:rPr lang="en-US" altLang="ko-KR" dirty="0"/>
              <a:t> </a:t>
            </a:r>
            <a:r>
              <a:rPr lang="ko-KR" altLang="en-US" dirty="0"/>
              <a:t>다음과 같이 이루어짐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1. 3D </a:t>
            </a:r>
            <a:r>
              <a:rPr lang="ko-KR" altLang="en-US" dirty="0"/>
              <a:t>물체의 위치 결정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3D </a:t>
            </a:r>
            <a:r>
              <a:rPr lang="ko-KR" altLang="en-US" dirty="0"/>
              <a:t>물체를 이루는 픽셀의 색상 결정   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앞서 설명했던 수식 적용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최종적인 픽셀 색상을 결정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화면상에 픽셀 찍기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843D7184-A46C-4318-9625-4106835F6F10}"/>
              </a:ext>
            </a:extLst>
          </p:cNvPr>
          <p:cNvSpPr txBox="1"/>
          <p:nvPr/>
        </p:nvSpPr>
        <p:spPr>
          <a:xfrm>
            <a:off x="1121039" y="5530632"/>
            <a:ext cx="12078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-&gt; </a:t>
            </a:r>
            <a:r>
              <a:rPr lang="ko-KR" altLang="en-US" sz="2800" dirty="0"/>
              <a:t>이러한 프로세스를 </a:t>
            </a:r>
            <a:r>
              <a:rPr lang="ko-KR" altLang="en-US" sz="3600" b="1" dirty="0"/>
              <a:t>렌더링 파이프라인 </a:t>
            </a:r>
            <a:r>
              <a:rPr lang="ko-KR" altLang="en-US" sz="2800" dirty="0"/>
              <a:t>이라고 한다</a:t>
            </a:r>
            <a:r>
              <a:rPr lang="en-US" altLang="ko-K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1994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9A0629B6-8864-4ADD-92E9-6A093BB12F13}"/>
              </a:ext>
            </a:extLst>
          </p:cNvPr>
          <p:cNvSpPr/>
          <p:nvPr/>
        </p:nvSpPr>
        <p:spPr>
          <a:xfrm>
            <a:off x="2599646" y="5795613"/>
            <a:ext cx="4232569" cy="6579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8484138F-C205-44B8-A712-A80EC0AFB822}"/>
              </a:ext>
            </a:extLst>
          </p:cNvPr>
          <p:cNvSpPr/>
          <p:nvPr/>
        </p:nvSpPr>
        <p:spPr>
          <a:xfrm>
            <a:off x="584202" y="2842947"/>
            <a:ext cx="2463800" cy="249105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010756EC-3882-4E3A-BF20-E29FE33324F0}"/>
              </a:ext>
            </a:extLst>
          </p:cNvPr>
          <p:cNvSpPr/>
          <p:nvPr/>
        </p:nvSpPr>
        <p:spPr>
          <a:xfrm>
            <a:off x="3484032" y="2842946"/>
            <a:ext cx="2463800" cy="249105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DA4B5AB5-C76D-4B22-B421-607CA4682A35}"/>
              </a:ext>
            </a:extLst>
          </p:cNvPr>
          <p:cNvSpPr/>
          <p:nvPr/>
        </p:nvSpPr>
        <p:spPr>
          <a:xfrm>
            <a:off x="6290733" y="2842946"/>
            <a:ext cx="2463800" cy="249105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55159E-3797-4E86-9DD9-641F86D57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전통적인 렌더링 </a:t>
            </a:r>
            <a:r>
              <a:rPr lang="en-US" altLang="ko-KR" dirty="0"/>
              <a:t>– Forward Rendering</a:t>
            </a:r>
            <a:endParaRPr lang="ko-KR" altLang="en-US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xmlns="" id="{3163BF7E-9BFC-4D6C-82D3-5A6DC995B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40533" cy="4351338"/>
          </a:xfrm>
        </p:spPr>
        <p:txBody>
          <a:bodyPr/>
          <a:lstStyle/>
          <a:p>
            <a:r>
              <a:rPr lang="ko-KR" altLang="en-US" dirty="0"/>
              <a:t>모델이 </a:t>
            </a:r>
            <a:r>
              <a:rPr lang="en-US" altLang="ko-KR" dirty="0"/>
              <a:t>N</a:t>
            </a:r>
            <a:r>
              <a:rPr lang="ko-KR" altLang="en-US" dirty="0"/>
              <a:t>개 있을 때</a:t>
            </a:r>
            <a:r>
              <a:rPr lang="en-US" altLang="ko-KR" dirty="0"/>
              <a:t>, </a:t>
            </a:r>
            <a:r>
              <a:rPr lang="ko-KR" altLang="en-US" dirty="0"/>
              <a:t>렌더링 파이프라인을 </a:t>
            </a:r>
            <a:r>
              <a:rPr lang="en-US" altLang="ko-KR" dirty="0"/>
              <a:t>N</a:t>
            </a:r>
            <a:r>
              <a:rPr lang="ko-KR" altLang="en-US" dirty="0"/>
              <a:t>개 수행해야 한다</a:t>
            </a:r>
            <a:r>
              <a:rPr lang="en-US" altLang="ko-KR" dirty="0"/>
              <a:t>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3FAE6899-9A56-441E-88C4-9DDA9C59FE92}"/>
              </a:ext>
            </a:extLst>
          </p:cNvPr>
          <p:cNvSpPr/>
          <p:nvPr/>
        </p:nvSpPr>
        <p:spPr>
          <a:xfrm>
            <a:off x="762000" y="2616200"/>
            <a:ext cx="2150534" cy="51964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3D </a:t>
            </a:r>
            <a:r>
              <a:rPr lang="ko-KR" altLang="en-US" dirty="0"/>
              <a:t>물체 위치 설정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96EC0ECE-4BD7-48AB-B6DF-9050C0DAD4FA}"/>
              </a:ext>
            </a:extLst>
          </p:cNvPr>
          <p:cNvSpPr/>
          <p:nvPr/>
        </p:nvSpPr>
        <p:spPr>
          <a:xfrm>
            <a:off x="3640665" y="2616200"/>
            <a:ext cx="2150534" cy="8128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물체를 이루는</a:t>
            </a:r>
            <a:endParaRPr lang="en-US" altLang="ko-KR" dirty="0"/>
          </a:p>
          <a:p>
            <a:pPr algn="ctr"/>
            <a:r>
              <a:rPr lang="ko-KR" altLang="en-US" dirty="0"/>
              <a:t>픽셀 색상 결정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9AE2E5B5-3A24-4B2B-9DC5-B989EEA86AA3}"/>
              </a:ext>
            </a:extLst>
          </p:cNvPr>
          <p:cNvSpPr/>
          <p:nvPr/>
        </p:nvSpPr>
        <p:spPr>
          <a:xfrm>
            <a:off x="6426201" y="2616200"/>
            <a:ext cx="2150534" cy="8128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최종적인 픽셀</a:t>
            </a:r>
            <a:endParaRPr lang="en-US" altLang="ko-KR" dirty="0"/>
          </a:p>
          <a:p>
            <a:pPr algn="ctr"/>
            <a:r>
              <a:rPr lang="ko-KR" altLang="en-US" dirty="0"/>
              <a:t>색상 결정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ED4BBA62-3728-4E9F-845D-68CD206F3146}"/>
              </a:ext>
            </a:extLst>
          </p:cNvPr>
          <p:cNvSpPr/>
          <p:nvPr/>
        </p:nvSpPr>
        <p:spPr>
          <a:xfrm>
            <a:off x="9558865" y="3677841"/>
            <a:ext cx="2150534" cy="812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픽셀 찍기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71C00DCF-66B8-4DFB-985E-C9C1D6A56557}"/>
              </a:ext>
            </a:extLst>
          </p:cNvPr>
          <p:cNvSpPr/>
          <p:nvPr/>
        </p:nvSpPr>
        <p:spPr>
          <a:xfrm>
            <a:off x="762000" y="3270779"/>
            <a:ext cx="2150534" cy="36472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모델링 변환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877983C3-79D5-46DD-B553-0B34E2FA2E90}"/>
              </a:ext>
            </a:extLst>
          </p:cNvPr>
          <p:cNvSpPr/>
          <p:nvPr/>
        </p:nvSpPr>
        <p:spPr>
          <a:xfrm>
            <a:off x="762000" y="3697618"/>
            <a:ext cx="2150534" cy="36472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카메라 변환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5AE8CCDA-E250-48E3-8B9C-8A4112F2FAEF}"/>
              </a:ext>
            </a:extLst>
          </p:cNvPr>
          <p:cNvSpPr/>
          <p:nvPr/>
        </p:nvSpPr>
        <p:spPr>
          <a:xfrm>
            <a:off x="762000" y="4136096"/>
            <a:ext cx="2150534" cy="36472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원근 변환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9DF98A43-825A-4F2E-B29C-2715882B7966}"/>
              </a:ext>
            </a:extLst>
          </p:cNvPr>
          <p:cNvSpPr/>
          <p:nvPr/>
        </p:nvSpPr>
        <p:spPr>
          <a:xfrm>
            <a:off x="740835" y="4570938"/>
            <a:ext cx="2150534" cy="36472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동차 나눗셈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1C3E5430-A16F-4C71-B2DD-90D600A89268}"/>
              </a:ext>
            </a:extLst>
          </p:cNvPr>
          <p:cNvSpPr/>
          <p:nvPr/>
        </p:nvSpPr>
        <p:spPr>
          <a:xfrm>
            <a:off x="3640665" y="3498055"/>
            <a:ext cx="2150534" cy="170259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계산량이</a:t>
            </a:r>
            <a:r>
              <a:rPr lang="ko-KR" altLang="en-US" dirty="0"/>
              <a:t> 많은</a:t>
            </a:r>
            <a:endParaRPr lang="en-US" altLang="ko-KR" dirty="0"/>
          </a:p>
          <a:p>
            <a:pPr algn="ctr"/>
            <a:r>
              <a:rPr lang="ko-KR" altLang="en-US" dirty="0"/>
              <a:t>수식 계산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6DB96EA7-A679-4B82-85C4-B83BB0EB71A2}"/>
              </a:ext>
            </a:extLst>
          </p:cNvPr>
          <p:cNvSpPr/>
          <p:nvPr/>
        </p:nvSpPr>
        <p:spPr>
          <a:xfrm>
            <a:off x="6426201" y="3501232"/>
            <a:ext cx="2150534" cy="51964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블렌딩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7BA863A8-7ED3-4734-906E-7046D2030E6C}"/>
              </a:ext>
            </a:extLst>
          </p:cNvPr>
          <p:cNvSpPr/>
          <p:nvPr/>
        </p:nvSpPr>
        <p:spPr>
          <a:xfrm>
            <a:off x="6426201" y="4087813"/>
            <a:ext cx="2150534" cy="51964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깊이 테스트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800A9042-6DE0-4689-8023-B44345309796}"/>
              </a:ext>
            </a:extLst>
          </p:cNvPr>
          <p:cNvSpPr/>
          <p:nvPr/>
        </p:nvSpPr>
        <p:spPr>
          <a:xfrm>
            <a:off x="6426201" y="4681007"/>
            <a:ext cx="2150534" cy="51964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스텐실 테스트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xmlns="" id="{AD710E08-B02D-4C0E-A849-EC28910D9E6C}"/>
              </a:ext>
            </a:extLst>
          </p:cNvPr>
          <p:cNvSpPr/>
          <p:nvPr/>
        </p:nvSpPr>
        <p:spPr>
          <a:xfrm>
            <a:off x="2789767" y="3761053"/>
            <a:ext cx="952501" cy="549012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xmlns="" id="{A51CCE22-D442-4C5F-A1C2-CA141172F004}"/>
              </a:ext>
            </a:extLst>
          </p:cNvPr>
          <p:cNvSpPr/>
          <p:nvPr/>
        </p:nvSpPr>
        <p:spPr>
          <a:xfrm>
            <a:off x="5793316" y="3777852"/>
            <a:ext cx="952501" cy="549012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xmlns="" id="{43D0FE65-93C6-451C-83E8-757B58FDC7FE}"/>
              </a:ext>
            </a:extLst>
          </p:cNvPr>
          <p:cNvSpPr/>
          <p:nvPr/>
        </p:nvSpPr>
        <p:spPr>
          <a:xfrm>
            <a:off x="8674099" y="3798622"/>
            <a:ext cx="952501" cy="549012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AA66DA4-CAA9-4AC2-B1EF-9DD61C8BE5BA}"/>
              </a:ext>
            </a:extLst>
          </p:cNvPr>
          <p:cNvSpPr txBox="1"/>
          <p:nvPr/>
        </p:nvSpPr>
        <p:spPr>
          <a:xfrm>
            <a:off x="2599647" y="5793888"/>
            <a:ext cx="42325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DirectX </a:t>
            </a:r>
            <a:r>
              <a:rPr lang="ko-KR" altLang="en-US" dirty="0"/>
              <a:t>의 </a:t>
            </a:r>
            <a:r>
              <a:rPr lang="en-US" altLang="ko-KR" dirty="0"/>
              <a:t>Pixel Shader</a:t>
            </a:r>
          </a:p>
          <a:p>
            <a:r>
              <a:rPr lang="en-US" altLang="ko-KR" dirty="0"/>
              <a:t>Open GL / Vulkan </a:t>
            </a:r>
            <a:r>
              <a:rPr lang="ko-KR" altLang="en-US" dirty="0"/>
              <a:t>의 </a:t>
            </a:r>
            <a:r>
              <a:rPr lang="en-US" altLang="ko-KR" dirty="0"/>
              <a:t>Fragment shader</a:t>
            </a:r>
            <a:endParaRPr lang="ko-KR" altLang="en-US" dirty="0"/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xmlns="" id="{4A29EB8F-C394-4079-94C0-8E9202B04B3D}"/>
              </a:ext>
            </a:extLst>
          </p:cNvPr>
          <p:cNvCxnSpPr>
            <a:stCxn id="5" idx="0"/>
            <a:endCxn id="25" idx="2"/>
          </p:cNvCxnSpPr>
          <p:nvPr/>
        </p:nvCxnSpPr>
        <p:spPr>
          <a:xfrm flipV="1">
            <a:off x="4715932" y="5333999"/>
            <a:ext cx="0" cy="459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구부러짐 43">
            <a:extLst>
              <a:ext uri="{FF2B5EF4-FFF2-40B4-BE49-F238E27FC236}">
                <a16:creationId xmlns:a16="http://schemas.microsoft.com/office/drawing/2014/main" xmlns="" id="{600848BD-43A7-4870-B7E0-19A6E2D24E5D}"/>
              </a:ext>
            </a:extLst>
          </p:cNvPr>
          <p:cNvCxnSpPr>
            <a:cxnSpLocks/>
            <a:endCxn id="5" idx="3"/>
          </p:cNvCxnSpPr>
          <p:nvPr/>
        </p:nvCxnSpPr>
        <p:spPr>
          <a:xfrm rot="10800000">
            <a:off x="6832216" y="6117054"/>
            <a:ext cx="669252" cy="19258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25E5C647-8668-4B89-A766-1D0EF901FFA1}"/>
              </a:ext>
            </a:extLst>
          </p:cNvPr>
          <p:cNvSpPr txBox="1"/>
          <p:nvPr/>
        </p:nvSpPr>
        <p:spPr>
          <a:xfrm>
            <a:off x="7450647" y="5910424"/>
            <a:ext cx="45127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이 녀석이</a:t>
            </a:r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ko-KR" altLang="en-US" sz="2400" b="1" dirty="0">
                <a:solidFill>
                  <a:srgbClr val="FF0000"/>
                </a:solidFill>
              </a:rPr>
              <a:t>렌더링 시간의 대부분을 차지함</a:t>
            </a:r>
          </a:p>
        </p:txBody>
      </p:sp>
    </p:spTree>
    <p:extLst>
      <p:ext uri="{BB962C8B-B14F-4D97-AF65-F5344CB8AC3E}">
        <p14:creationId xmlns:p14="http://schemas.microsoft.com/office/powerpoint/2010/main" val="2562331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55159E-3797-4E86-9DD9-641F86D57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Forward Rendering </a:t>
            </a:r>
            <a:r>
              <a:rPr lang="ko-KR" altLang="en-US" dirty="0"/>
              <a:t>의 문제점</a:t>
            </a: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xmlns="" id="{3163BF7E-9BFC-4D6C-82D3-5A6DC995B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40533" cy="4351338"/>
          </a:xfrm>
        </p:spPr>
        <p:txBody>
          <a:bodyPr/>
          <a:lstStyle/>
          <a:p>
            <a:r>
              <a:rPr lang="ko-KR" altLang="en-US" dirty="0"/>
              <a:t>모델마다 렌더링 파이프라인을 수행하기 때문에</a:t>
            </a:r>
            <a:r>
              <a:rPr lang="en-US" altLang="ko-KR" dirty="0"/>
              <a:t>, </a:t>
            </a:r>
            <a:r>
              <a:rPr lang="ko-KR" altLang="en-US" dirty="0"/>
              <a:t>계산이 낭비되는 경우가 발생한다</a:t>
            </a:r>
            <a:r>
              <a:rPr lang="en-US" altLang="ko-KR" dirty="0"/>
              <a:t>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3E1FAE99-DA77-4520-AFC5-DEF86DF14083}"/>
              </a:ext>
            </a:extLst>
          </p:cNvPr>
          <p:cNvSpPr/>
          <p:nvPr/>
        </p:nvSpPr>
        <p:spPr>
          <a:xfrm>
            <a:off x="499533" y="3294063"/>
            <a:ext cx="3310467" cy="24976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xmlns="" id="{8B95EDC8-D3D0-46AC-8097-AC24DB1CE29C}"/>
              </a:ext>
            </a:extLst>
          </p:cNvPr>
          <p:cNvSpPr/>
          <p:nvPr/>
        </p:nvSpPr>
        <p:spPr>
          <a:xfrm>
            <a:off x="4440766" y="3303059"/>
            <a:ext cx="3310467" cy="24976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xmlns="" id="{5F16246E-4CA2-4285-A546-915D542E21EE}"/>
              </a:ext>
            </a:extLst>
          </p:cNvPr>
          <p:cNvSpPr/>
          <p:nvPr/>
        </p:nvSpPr>
        <p:spPr>
          <a:xfrm>
            <a:off x="8382000" y="3294063"/>
            <a:ext cx="3310467" cy="24976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BB1D110B-CB6D-400D-A7DE-22A781FE1B87}"/>
              </a:ext>
            </a:extLst>
          </p:cNvPr>
          <p:cNvSpPr/>
          <p:nvPr/>
        </p:nvSpPr>
        <p:spPr>
          <a:xfrm>
            <a:off x="1466102" y="5969655"/>
            <a:ext cx="12266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/>
              <a:t>장면 </a:t>
            </a:r>
            <a:r>
              <a:rPr lang="en-US" altLang="ko-KR" sz="2800" dirty="0"/>
              <a:t>1</a:t>
            </a:r>
            <a:endParaRPr lang="ko-KR" altLang="en-US" sz="28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xmlns="" id="{2B25117A-C1CE-4029-BED3-D8BFB2494941}"/>
              </a:ext>
            </a:extLst>
          </p:cNvPr>
          <p:cNvSpPr/>
          <p:nvPr/>
        </p:nvSpPr>
        <p:spPr>
          <a:xfrm>
            <a:off x="5482690" y="5969655"/>
            <a:ext cx="12266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/>
              <a:t>장면 </a:t>
            </a:r>
            <a:r>
              <a:rPr lang="en-US" altLang="ko-KR" sz="2800" dirty="0"/>
              <a:t>2</a:t>
            </a:r>
            <a:endParaRPr lang="ko-KR" altLang="en-US" sz="28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xmlns="" id="{028A2CB2-3546-4220-9502-EFEDEBCDF8BB}"/>
              </a:ext>
            </a:extLst>
          </p:cNvPr>
          <p:cNvSpPr/>
          <p:nvPr/>
        </p:nvSpPr>
        <p:spPr>
          <a:xfrm>
            <a:off x="8572431" y="5996714"/>
            <a:ext cx="31341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/>
              <a:t>장면 </a:t>
            </a:r>
            <a:r>
              <a:rPr lang="en-US" altLang="ko-KR" sz="2800" dirty="0"/>
              <a:t>3 (</a:t>
            </a:r>
            <a:r>
              <a:rPr lang="ko-KR" altLang="en-US" sz="2800" dirty="0"/>
              <a:t>최종 장면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20" name="정육면체 19">
            <a:extLst>
              <a:ext uri="{FF2B5EF4-FFF2-40B4-BE49-F238E27FC236}">
                <a16:creationId xmlns:a16="http://schemas.microsoft.com/office/drawing/2014/main" xmlns="" id="{0838D0AF-AB6C-46E5-A4B9-B18A362385CD}"/>
              </a:ext>
            </a:extLst>
          </p:cNvPr>
          <p:cNvSpPr/>
          <p:nvPr/>
        </p:nvSpPr>
        <p:spPr>
          <a:xfrm>
            <a:off x="1557867" y="4292600"/>
            <a:ext cx="863600" cy="905933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정육면체 36">
            <a:extLst>
              <a:ext uri="{FF2B5EF4-FFF2-40B4-BE49-F238E27FC236}">
                <a16:creationId xmlns:a16="http://schemas.microsoft.com/office/drawing/2014/main" xmlns="" id="{27451FBA-6985-4660-846F-8DD8A784F56C}"/>
              </a:ext>
            </a:extLst>
          </p:cNvPr>
          <p:cNvSpPr/>
          <p:nvPr/>
        </p:nvSpPr>
        <p:spPr>
          <a:xfrm>
            <a:off x="5592234" y="4292600"/>
            <a:ext cx="863600" cy="905933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정육면체 37">
            <a:extLst>
              <a:ext uri="{FF2B5EF4-FFF2-40B4-BE49-F238E27FC236}">
                <a16:creationId xmlns:a16="http://schemas.microsoft.com/office/drawing/2014/main" xmlns="" id="{1DD0E64A-3ED2-4E88-8647-339C171BA0C4}"/>
              </a:ext>
            </a:extLst>
          </p:cNvPr>
          <p:cNvSpPr/>
          <p:nvPr/>
        </p:nvSpPr>
        <p:spPr>
          <a:xfrm>
            <a:off x="5858935" y="3916363"/>
            <a:ext cx="1130299" cy="112156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정육면체 38">
            <a:extLst>
              <a:ext uri="{FF2B5EF4-FFF2-40B4-BE49-F238E27FC236}">
                <a16:creationId xmlns:a16="http://schemas.microsoft.com/office/drawing/2014/main" xmlns="" id="{CE1C08B4-C65B-46AF-AB53-D4E786582FB3}"/>
              </a:ext>
            </a:extLst>
          </p:cNvPr>
          <p:cNvSpPr/>
          <p:nvPr/>
        </p:nvSpPr>
        <p:spPr>
          <a:xfrm>
            <a:off x="9423924" y="4292600"/>
            <a:ext cx="863600" cy="905933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정육면체 39">
            <a:extLst>
              <a:ext uri="{FF2B5EF4-FFF2-40B4-BE49-F238E27FC236}">
                <a16:creationId xmlns:a16="http://schemas.microsoft.com/office/drawing/2014/main" xmlns="" id="{F5314236-7EF1-42D2-8A7C-7E6A4BDFE79A}"/>
              </a:ext>
            </a:extLst>
          </p:cNvPr>
          <p:cNvSpPr/>
          <p:nvPr/>
        </p:nvSpPr>
        <p:spPr>
          <a:xfrm>
            <a:off x="9690625" y="3916363"/>
            <a:ext cx="1130299" cy="1121568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정육면체 40">
            <a:extLst>
              <a:ext uri="{FF2B5EF4-FFF2-40B4-BE49-F238E27FC236}">
                <a16:creationId xmlns:a16="http://schemas.microsoft.com/office/drawing/2014/main" xmlns="" id="{748B85D5-530C-4816-BD8D-8DB40C00ACEE}"/>
              </a:ext>
            </a:extLst>
          </p:cNvPr>
          <p:cNvSpPr/>
          <p:nvPr/>
        </p:nvSpPr>
        <p:spPr>
          <a:xfrm>
            <a:off x="9119126" y="3606270"/>
            <a:ext cx="1972731" cy="1871664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xmlns="" id="{6FBB3A8C-4EAE-4FD2-91F1-FD278F99E3FF}"/>
              </a:ext>
            </a:extLst>
          </p:cNvPr>
          <p:cNvCxnSpPr>
            <a:cxnSpLocks/>
          </p:cNvCxnSpPr>
          <p:nvPr/>
        </p:nvCxnSpPr>
        <p:spPr>
          <a:xfrm flipH="1">
            <a:off x="6095999" y="3092319"/>
            <a:ext cx="1197237" cy="1555881"/>
          </a:xfrm>
          <a:prstGeom prst="straightConnector1">
            <a:avLst/>
          </a:prstGeom>
          <a:ln w="57150"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xmlns="" id="{33998617-2E00-42AE-AABD-C2A4DE712BE0}"/>
              </a:ext>
            </a:extLst>
          </p:cNvPr>
          <p:cNvCxnSpPr>
            <a:cxnSpLocks/>
          </p:cNvCxnSpPr>
          <p:nvPr/>
        </p:nvCxnSpPr>
        <p:spPr>
          <a:xfrm>
            <a:off x="8673303" y="3059215"/>
            <a:ext cx="1291964" cy="1737214"/>
          </a:xfrm>
          <a:prstGeom prst="straightConnector1">
            <a:avLst/>
          </a:prstGeom>
          <a:ln w="57150"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xmlns="" id="{39D308F7-2512-416D-8953-36C4762F3633}"/>
              </a:ext>
            </a:extLst>
          </p:cNvPr>
          <p:cNvSpPr/>
          <p:nvPr/>
        </p:nvSpPr>
        <p:spPr>
          <a:xfrm>
            <a:off x="6455833" y="2329393"/>
            <a:ext cx="3283347" cy="8847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D8485995-63F3-4A97-A2C8-09ED8F89B103}"/>
              </a:ext>
            </a:extLst>
          </p:cNvPr>
          <p:cNvSpPr txBox="1"/>
          <p:nvPr/>
        </p:nvSpPr>
        <p:spPr>
          <a:xfrm>
            <a:off x="6663037" y="2370134"/>
            <a:ext cx="30540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가려지는 부분은</a:t>
            </a:r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ko-KR" altLang="en-US" sz="2400" b="1" dirty="0">
                <a:solidFill>
                  <a:srgbClr val="FF0000"/>
                </a:solidFill>
              </a:rPr>
              <a:t>렌더링 할 </a:t>
            </a:r>
            <a:r>
              <a:rPr lang="ko-KR" altLang="en-US" sz="2400" b="1" dirty="0" err="1">
                <a:solidFill>
                  <a:srgbClr val="FF0000"/>
                </a:solidFill>
              </a:rPr>
              <a:t>필요없다</a:t>
            </a:r>
            <a:r>
              <a:rPr lang="en-US" altLang="ko-KR" sz="2400" b="1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0951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55159E-3797-4E86-9DD9-641F86D57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해결책</a:t>
            </a:r>
            <a:r>
              <a:rPr lang="en-US" altLang="ko-KR" dirty="0"/>
              <a:t> – Deferred Rendering</a:t>
            </a:r>
            <a:endParaRPr lang="ko-KR" altLang="en-US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xmlns="" id="{3163BF7E-9BFC-4D6C-82D3-5A6DC995B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33" y="1825625"/>
            <a:ext cx="11379199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모델을 한 번에 렌더링하는 것이 아닌 </a:t>
            </a:r>
            <a:r>
              <a:rPr lang="en-US" altLang="ko-KR" dirty="0"/>
              <a:t>2</a:t>
            </a:r>
            <a:r>
              <a:rPr lang="ko-KR" altLang="en-US" dirty="0"/>
              <a:t>단계로 거쳐서 렌더링한다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ko-KR" altLang="en-US" b="1" dirty="0"/>
              <a:t>모든 모델의 기하 정보만 렌더링</a:t>
            </a:r>
            <a:r>
              <a:rPr lang="en-US" altLang="ko-KR" b="1" dirty="0">
                <a:solidFill>
                  <a:srgbClr val="FF0000"/>
                </a:solidFill>
              </a:rPr>
              <a:t/>
            </a:r>
            <a:br>
              <a:rPr lang="en-US" altLang="ko-KR" b="1" dirty="0">
                <a:solidFill>
                  <a:srgbClr val="FF0000"/>
                </a:solidFill>
              </a:rPr>
            </a:br>
            <a:r>
              <a:rPr lang="ko-KR" altLang="en-US" sz="2400" dirty="0"/>
              <a:t>스크린과 동일한 스크린을 생성해서</a:t>
            </a:r>
            <a:r>
              <a:rPr lang="en-US" altLang="ko-KR" sz="2400" dirty="0"/>
              <a:t>, </a:t>
            </a:r>
            <a:r>
              <a:rPr lang="ko-KR" altLang="en-US" sz="2400" dirty="0"/>
              <a:t>해당 스크린에 위치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법선벡터</a:t>
            </a:r>
            <a:r>
              <a:rPr lang="en-US" altLang="ko-KR" sz="2400" dirty="0"/>
              <a:t>, </a:t>
            </a:r>
            <a:r>
              <a:rPr lang="ko-KR" altLang="en-US" sz="2400" dirty="0"/>
              <a:t>깊이</a:t>
            </a:r>
            <a:r>
              <a:rPr lang="en-US" altLang="ko-KR" sz="2400" dirty="0"/>
              <a:t>, </a:t>
            </a:r>
            <a:r>
              <a:rPr lang="ko-KR" altLang="en-US" sz="2400" dirty="0"/>
              <a:t>재질</a:t>
            </a:r>
            <a:r>
              <a:rPr lang="en-US" altLang="ko-KR" sz="2400" dirty="0"/>
              <a:t> </a:t>
            </a:r>
            <a:r>
              <a:rPr lang="ko-KR" altLang="en-US" sz="2400" dirty="0"/>
              <a:t>등과 같은</a:t>
            </a:r>
            <a:r>
              <a:rPr lang="en-US" altLang="ko-KR" sz="2400" dirty="0"/>
              <a:t> </a:t>
            </a:r>
            <a:r>
              <a:rPr lang="ko-KR" altLang="en-US" sz="2400" dirty="0"/>
              <a:t>색상 계산에 필요한 </a:t>
            </a:r>
            <a:r>
              <a:rPr lang="ko-KR" altLang="en-US" sz="2400" b="1" dirty="0"/>
              <a:t>기하학 정보</a:t>
            </a:r>
            <a:r>
              <a:rPr lang="ko-KR" altLang="en-US" sz="2400" dirty="0"/>
              <a:t>만 먼저 렌더링</a:t>
            </a:r>
            <a:r>
              <a:rPr lang="en-US" altLang="ko-KR" dirty="0">
                <a:solidFill>
                  <a:srgbClr val="FF0000"/>
                </a:solidFill>
              </a:rPr>
              <a:t/>
            </a:r>
            <a:br>
              <a:rPr lang="en-US" altLang="ko-KR" dirty="0">
                <a:solidFill>
                  <a:srgbClr val="FF0000"/>
                </a:solidFill>
              </a:rPr>
            </a:br>
            <a:endParaRPr lang="en-US" altLang="ko-KR" b="1" dirty="0">
              <a:solidFill>
                <a:srgbClr val="FF0000"/>
              </a:solidFill>
            </a:endParaRPr>
          </a:p>
          <a:p>
            <a:pPr marL="514350" indent="-51435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ko-KR" altLang="en-US" b="1" dirty="0"/>
              <a:t>저장된 기하 정보를 토대로 </a:t>
            </a:r>
            <a:r>
              <a:rPr lang="en-US" altLang="ko-KR" b="1" dirty="0"/>
              <a:t>‘</a:t>
            </a:r>
            <a:r>
              <a:rPr lang="ko-KR" altLang="en-US" b="1" dirty="0"/>
              <a:t>딱 한 번만</a:t>
            </a:r>
            <a:r>
              <a:rPr lang="en-US" altLang="ko-KR" b="1" dirty="0"/>
              <a:t>’</a:t>
            </a:r>
            <a:r>
              <a:rPr lang="ko-KR" altLang="en-US" b="1" dirty="0"/>
              <a:t> 색상 계산</a:t>
            </a:r>
            <a:r>
              <a:rPr lang="en-US" altLang="ko-KR" b="1" dirty="0">
                <a:solidFill>
                  <a:srgbClr val="FF0000"/>
                </a:solidFill>
              </a:rPr>
              <a:t/>
            </a:r>
            <a:br>
              <a:rPr lang="en-US" altLang="ko-KR" b="1" dirty="0">
                <a:solidFill>
                  <a:srgbClr val="FF0000"/>
                </a:solidFill>
              </a:rPr>
            </a:br>
            <a:r>
              <a:rPr lang="ko-KR" altLang="en-US" sz="2400" dirty="0"/>
              <a:t>스크린에 저장된 최종적인 기하학 정보만을 이용하여 딱 한 번만 색상을 계산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9B65C4E3-9FDA-4B83-B7FE-F73CEDF20B67}"/>
              </a:ext>
            </a:extLst>
          </p:cNvPr>
          <p:cNvSpPr/>
          <p:nvPr/>
        </p:nvSpPr>
        <p:spPr>
          <a:xfrm>
            <a:off x="321735" y="5906886"/>
            <a:ext cx="122936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-&gt; </a:t>
            </a:r>
            <a:r>
              <a:rPr lang="ko-KR" altLang="en-US" sz="2800" b="1" dirty="0">
                <a:solidFill>
                  <a:srgbClr val="FF0000"/>
                </a:solidFill>
              </a:rPr>
              <a:t>기하 정보는 동일하게 </a:t>
            </a:r>
            <a:r>
              <a:rPr lang="en-US" altLang="ko-KR" sz="2800" b="1" dirty="0">
                <a:solidFill>
                  <a:srgbClr val="FF0000"/>
                </a:solidFill>
              </a:rPr>
              <a:t>N</a:t>
            </a:r>
            <a:r>
              <a:rPr lang="ko-KR" altLang="en-US" sz="2800" b="1" dirty="0">
                <a:solidFill>
                  <a:srgbClr val="FF0000"/>
                </a:solidFill>
              </a:rPr>
              <a:t>번 렌더링하는데</a:t>
            </a:r>
            <a:r>
              <a:rPr lang="en-US" altLang="ko-KR" sz="2800" b="1" dirty="0">
                <a:solidFill>
                  <a:srgbClr val="FF0000"/>
                </a:solidFill>
              </a:rPr>
              <a:t>, </a:t>
            </a:r>
            <a:r>
              <a:rPr lang="ko-KR" altLang="en-US" sz="2800" b="1" dirty="0">
                <a:solidFill>
                  <a:srgbClr val="FF0000"/>
                </a:solidFill>
              </a:rPr>
              <a:t>색상 계산한 </a:t>
            </a:r>
            <a:r>
              <a:rPr lang="en-US" altLang="ko-KR" sz="2800" b="1" dirty="0">
                <a:solidFill>
                  <a:srgbClr val="FF0000"/>
                </a:solidFill>
              </a:rPr>
              <a:t>1</a:t>
            </a:r>
            <a:r>
              <a:rPr lang="ko-KR" altLang="en-US" sz="2800" b="1" dirty="0">
                <a:solidFill>
                  <a:srgbClr val="FF0000"/>
                </a:solidFill>
              </a:rPr>
              <a:t>번만 수행함</a:t>
            </a:r>
            <a:endParaRPr lang="en-US" altLang="ko-KR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92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55159E-3797-4E86-9DD9-641F86D57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해결책</a:t>
            </a:r>
            <a:r>
              <a:rPr lang="en-US" altLang="ko-KR" dirty="0"/>
              <a:t> – Deferred Rendering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7C2CE928-BE34-4BCF-B2FE-411D20EA1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14" y="1582907"/>
            <a:ext cx="5068488" cy="43668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1871D88D-DE66-433F-AF23-8F89B3914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985" y="1582907"/>
            <a:ext cx="5479682" cy="431377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70304695-28FF-4398-A0C5-D2A5D1400D58}"/>
              </a:ext>
            </a:extLst>
          </p:cNvPr>
          <p:cNvSpPr/>
          <p:nvPr/>
        </p:nvSpPr>
        <p:spPr>
          <a:xfrm>
            <a:off x="499290" y="6147455"/>
            <a:ext cx="53495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/>
              <a:t>기하 정보들만 렌더링 </a:t>
            </a:r>
            <a:r>
              <a:rPr lang="en-US" altLang="ko-KR" sz="2800" dirty="0"/>
              <a:t>(g-buffer)</a:t>
            </a:r>
            <a:endParaRPr lang="ko-KR" altLang="en-US" sz="28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4CC7D3D0-0885-4C3B-AC56-71EA2111EDD8}"/>
              </a:ext>
            </a:extLst>
          </p:cNvPr>
          <p:cNvSpPr/>
          <p:nvPr/>
        </p:nvSpPr>
        <p:spPr>
          <a:xfrm>
            <a:off x="6409508" y="6147455"/>
            <a:ext cx="53591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/>
              <a:t>기하 정보를 이용하여 색상 결정</a:t>
            </a:r>
          </a:p>
        </p:txBody>
      </p:sp>
    </p:spTree>
    <p:extLst>
      <p:ext uri="{BB962C8B-B14F-4D97-AF65-F5344CB8AC3E}">
        <p14:creationId xmlns:p14="http://schemas.microsoft.com/office/powerpoint/2010/main" val="2015308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55159E-3797-4E86-9DD9-641F86D57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Deferred Rendering – </a:t>
            </a:r>
            <a:r>
              <a:rPr lang="ko-KR" altLang="en-US" dirty="0"/>
              <a:t>최적화 기법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7C2CE928-BE34-4BCF-B2FE-411D20EA1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568" y="1511094"/>
            <a:ext cx="4591397" cy="405200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70304695-28FF-4398-A0C5-D2A5D1400D58}"/>
              </a:ext>
            </a:extLst>
          </p:cNvPr>
          <p:cNvSpPr/>
          <p:nvPr/>
        </p:nvSpPr>
        <p:spPr>
          <a:xfrm>
            <a:off x="918132" y="1968395"/>
            <a:ext cx="17475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dirty="0"/>
              <a:t>법선 벡터</a:t>
            </a:r>
            <a:endParaRPr lang="en-US" altLang="ko-KR" sz="2800" dirty="0"/>
          </a:p>
          <a:p>
            <a:r>
              <a:rPr lang="ko-KR" altLang="en-US" sz="2800" dirty="0"/>
              <a:t>스크린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7E33B958-CFC8-4285-8C86-AA873891A59D}"/>
              </a:ext>
            </a:extLst>
          </p:cNvPr>
          <p:cNvSpPr/>
          <p:nvPr/>
        </p:nvSpPr>
        <p:spPr>
          <a:xfrm>
            <a:off x="9131362" y="1724381"/>
            <a:ext cx="126188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dirty="0"/>
              <a:t>색상</a:t>
            </a:r>
            <a:endParaRPr lang="en-US" altLang="ko-KR" sz="2800" dirty="0"/>
          </a:p>
          <a:p>
            <a:r>
              <a:rPr lang="ko-KR" altLang="en-US" sz="2800" dirty="0"/>
              <a:t>거칠기</a:t>
            </a:r>
            <a:endParaRPr lang="en-US" altLang="ko-KR" sz="2800" dirty="0"/>
          </a:p>
          <a:p>
            <a:r>
              <a:rPr lang="ko-KR" altLang="en-US" sz="2800" dirty="0"/>
              <a:t>스크린</a:t>
            </a:r>
            <a:endParaRPr lang="en-US" altLang="ko-KR" sz="28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6C87373D-4943-472F-8538-EBFA3A38B71A}"/>
              </a:ext>
            </a:extLst>
          </p:cNvPr>
          <p:cNvSpPr/>
          <p:nvPr/>
        </p:nvSpPr>
        <p:spPr>
          <a:xfrm>
            <a:off x="1453171" y="3817464"/>
            <a:ext cx="126188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dirty="0"/>
              <a:t>금속</a:t>
            </a:r>
            <a:endParaRPr lang="en-US" altLang="ko-KR" sz="2800" dirty="0"/>
          </a:p>
          <a:p>
            <a:r>
              <a:rPr lang="ko-KR" altLang="en-US" sz="2800" dirty="0" err="1"/>
              <a:t>차폐광</a:t>
            </a:r>
            <a:endParaRPr lang="en-US" altLang="ko-KR" sz="2800" dirty="0"/>
          </a:p>
          <a:p>
            <a:r>
              <a:rPr lang="ko-KR" altLang="en-US" sz="2800" dirty="0"/>
              <a:t>스크린</a:t>
            </a:r>
            <a:endParaRPr lang="en-US" altLang="ko-KR" sz="28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C4A06062-8518-4B56-93F9-4A06822559A3}"/>
              </a:ext>
            </a:extLst>
          </p:cNvPr>
          <p:cNvSpPr/>
          <p:nvPr/>
        </p:nvSpPr>
        <p:spPr>
          <a:xfrm>
            <a:off x="8985975" y="4248352"/>
            <a:ext cx="12618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dirty="0"/>
              <a:t>깊이</a:t>
            </a:r>
            <a:endParaRPr lang="en-US" altLang="ko-KR" sz="2800" dirty="0"/>
          </a:p>
          <a:p>
            <a:r>
              <a:rPr lang="ko-KR" altLang="en-US" sz="2800" dirty="0"/>
              <a:t>스크린</a:t>
            </a:r>
            <a:endParaRPr lang="en-US" altLang="ko-KR" sz="280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A1B378B1-45A6-47B2-B51E-219AD57CEBEE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665726" y="2445449"/>
            <a:ext cx="1376309" cy="252613"/>
          </a:xfrm>
          <a:prstGeom prst="line">
            <a:avLst/>
          </a:prstGeom>
          <a:ln w="381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xmlns="" id="{7A083780-B809-4782-BF27-F2525B327A50}"/>
              </a:ext>
            </a:extLst>
          </p:cNvPr>
          <p:cNvCxnSpPr>
            <a:cxnSpLocks/>
          </p:cNvCxnSpPr>
          <p:nvPr/>
        </p:nvCxnSpPr>
        <p:spPr>
          <a:xfrm flipV="1">
            <a:off x="3003558" y="4634288"/>
            <a:ext cx="843444" cy="1"/>
          </a:xfrm>
          <a:prstGeom prst="line">
            <a:avLst/>
          </a:prstGeom>
          <a:ln w="381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xmlns="" id="{19EFB53F-441C-4343-A7F2-A58F0AC64720}"/>
              </a:ext>
            </a:extLst>
          </p:cNvPr>
          <p:cNvCxnSpPr>
            <a:cxnSpLocks/>
          </p:cNvCxnSpPr>
          <p:nvPr/>
        </p:nvCxnSpPr>
        <p:spPr>
          <a:xfrm flipV="1">
            <a:off x="7898029" y="2445448"/>
            <a:ext cx="1087946" cy="215445"/>
          </a:xfrm>
          <a:prstGeom prst="line">
            <a:avLst/>
          </a:prstGeom>
          <a:ln w="381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xmlns="" id="{792B3FE2-4418-4242-B97F-244EAB524FAA}"/>
              </a:ext>
            </a:extLst>
          </p:cNvPr>
          <p:cNvCxnSpPr>
            <a:cxnSpLocks/>
          </p:cNvCxnSpPr>
          <p:nvPr/>
        </p:nvCxnSpPr>
        <p:spPr>
          <a:xfrm flipV="1">
            <a:off x="8015531" y="4714975"/>
            <a:ext cx="843444" cy="1"/>
          </a:xfrm>
          <a:prstGeom prst="line">
            <a:avLst/>
          </a:prstGeom>
          <a:ln w="381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내용 개체 틀 3">
            <a:extLst>
              <a:ext uri="{FF2B5EF4-FFF2-40B4-BE49-F238E27FC236}">
                <a16:creationId xmlns:a16="http://schemas.microsoft.com/office/drawing/2014/main" xmlns="" id="{E0934696-F00C-46B0-89A9-824BD2625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6528" y="5767444"/>
            <a:ext cx="11379199" cy="106150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스크린이 </a:t>
            </a:r>
            <a:r>
              <a:rPr lang="en-US" altLang="ko-KR" dirty="0"/>
              <a:t>N</a:t>
            </a:r>
            <a:r>
              <a:rPr lang="ko-KR" altLang="en-US" dirty="0"/>
              <a:t>개면</a:t>
            </a:r>
            <a:r>
              <a:rPr lang="en-US" altLang="ko-KR" dirty="0"/>
              <a:t> M</a:t>
            </a:r>
            <a:r>
              <a:rPr lang="ko-KR" altLang="en-US" dirty="0"/>
              <a:t>개의 모델을 </a:t>
            </a:r>
            <a:r>
              <a:rPr lang="en-US" altLang="ko-KR" dirty="0"/>
              <a:t>M*N</a:t>
            </a:r>
            <a:r>
              <a:rPr lang="ko-KR" altLang="en-US" dirty="0"/>
              <a:t>번 렌더링 해야함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b="1" dirty="0"/>
              <a:t>스크린 항상 최소로 유지하는게 좋음</a:t>
            </a:r>
            <a:endParaRPr lang="en-US" altLang="ko-KR" b="1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197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55159E-3797-4E86-9DD9-641F86D57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Deferred Rendering – </a:t>
            </a:r>
            <a:r>
              <a:rPr lang="ko-KR" altLang="en-US" dirty="0"/>
              <a:t>최적화 기법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8DEAE52B-C08B-4317-B24C-6B46E176B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28" y="3563036"/>
            <a:ext cx="4709038" cy="237898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xmlns="" id="{FB30D1A8-07CF-43CF-A2E7-C2A07A525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241" y="3814448"/>
            <a:ext cx="5490731" cy="1876158"/>
          </a:xfrm>
          <a:prstGeom prst="rect">
            <a:avLst/>
          </a:prstGeom>
        </p:spPr>
      </p:pic>
      <p:sp>
        <p:nvSpPr>
          <p:cNvPr id="21" name="내용 개체 틀 3">
            <a:extLst>
              <a:ext uri="{FF2B5EF4-FFF2-40B4-BE49-F238E27FC236}">
                <a16:creationId xmlns:a16="http://schemas.microsoft.com/office/drawing/2014/main" xmlns="" id="{3332C6BF-FBA6-408F-8D89-B60082894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133" y="1825625"/>
            <a:ext cx="11277599" cy="95410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위치를 저장하는 스크린을 따로 두지 않는 이유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깊이 값에서 위치 값을 복구할 수 있다</a:t>
            </a:r>
            <a:r>
              <a:rPr lang="en-US" altLang="ko-KR" dirty="0"/>
              <a:t>.</a:t>
            </a:r>
          </a:p>
          <a:p>
            <a:pPr>
              <a:lnSpc>
                <a:spcPct val="10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19322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55159E-3797-4E86-9DD9-641F86D57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Deferred Rendering – </a:t>
            </a:r>
            <a:r>
              <a:rPr lang="ko-KR" altLang="en-US" dirty="0"/>
              <a:t>최적화 기법</a:t>
            </a:r>
          </a:p>
        </p:txBody>
      </p:sp>
      <p:sp>
        <p:nvSpPr>
          <p:cNvPr id="16" name="내용 개체 틀 3">
            <a:extLst>
              <a:ext uri="{FF2B5EF4-FFF2-40B4-BE49-F238E27FC236}">
                <a16:creationId xmlns:a16="http://schemas.microsoft.com/office/drawing/2014/main" xmlns="" id="{DC0AE393-BEE2-4C77-95E2-F2A2AD03B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33" y="1825625"/>
            <a:ext cx="11379199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스크린의 경우 메모리가 작으면 작을수록 빠름</a:t>
            </a:r>
            <a:r>
              <a:rPr lang="en-US" altLang="ko-KR" dirty="0"/>
              <a:t/>
            </a:r>
            <a:br>
              <a:rPr lang="en-US" altLang="ko-KR" dirty="0"/>
            </a:br>
            <a:endParaRPr lang="en-US" altLang="ko-KR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xmlns="" id="{9228226D-D1C1-4BDE-AD03-170B2DBEB44A}"/>
              </a:ext>
            </a:extLst>
          </p:cNvPr>
          <p:cNvSpPr txBox="1">
            <a:spLocks/>
          </p:cNvSpPr>
          <p:nvPr/>
        </p:nvSpPr>
        <p:spPr>
          <a:xfrm>
            <a:off x="499533" y="2574926"/>
            <a:ext cx="11497734" cy="3736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b="1" dirty="0"/>
              <a:t>[0, 1] </a:t>
            </a:r>
            <a:r>
              <a:rPr lang="ko-KR" altLang="en-US" b="1" dirty="0"/>
              <a:t>사이의 값만으로도 충분한 경우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ex) LDR </a:t>
            </a:r>
            <a:r>
              <a:rPr lang="ko-KR" altLang="en-US" dirty="0"/>
              <a:t>색상</a:t>
            </a:r>
            <a:r>
              <a:rPr lang="en-US" altLang="ko-KR" dirty="0"/>
              <a:t>, </a:t>
            </a:r>
            <a:r>
              <a:rPr lang="ko-KR" altLang="en-US" dirty="0"/>
              <a:t>금속</a:t>
            </a:r>
            <a:r>
              <a:rPr lang="en-US" altLang="ko-KR" dirty="0"/>
              <a:t>, </a:t>
            </a:r>
            <a:r>
              <a:rPr lang="ko-KR" altLang="en-US" dirty="0" err="1"/>
              <a:t>차폐광</a:t>
            </a:r>
            <a:r>
              <a:rPr lang="en-US" altLang="ko-KR" dirty="0"/>
              <a:t>, </a:t>
            </a:r>
            <a:r>
              <a:rPr lang="ko-KR" altLang="en-US" dirty="0"/>
              <a:t>거칠기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..</a:t>
            </a:r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en-US" b="1" dirty="0"/>
              <a:t>그 이상의 값이 필요한 경우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dirty="0"/>
              <a:t>ex) HDR</a:t>
            </a:r>
            <a:r>
              <a:rPr lang="ko-KR" altLang="en-US" dirty="0"/>
              <a:t> 색상</a:t>
            </a:r>
            <a:r>
              <a:rPr lang="en-US" altLang="ko-KR" dirty="0"/>
              <a:t>, </a:t>
            </a:r>
            <a:r>
              <a:rPr lang="ko-KR" altLang="en-US" dirty="0"/>
              <a:t>위치</a:t>
            </a:r>
            <a:r>
              <a:rPr lang="en-US" altLang="ko-KR" dirty="0"/>
              <a:t>, </a:t>
            </a:r>
            <a:r>
              <a:rPr lang="ko-KR" altLang="en-US" dirty="0"/>
              <a:t>법선 등</a:t>
            </a:r>
            <a:r>
              <a:rPr lang="en-US" altLang="ko-KR" dirty="0"/>
              <a:t>..</a:t>
            </a:r>
          </a:p>
          <a:p>
            <a:pPr>
              <a:lnSpc>
                <a:spcPct val="100000"/>
              </a:lnSpc>
            </a:pP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D28E1D14-5C1E-4D9F-AD82-D526E7699C4B}"/>
              </a:ext>
            </a:extLst>
          </p:cNvPr>
          <p:cNvSpPr/>
          <p:nvPr/>
        </p:nvSpPr>
        <p:spPr>
          <a:xfrm>
            <a:off x="2575324" y="3640427"/>
            <a:ext cx="70413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DXGI_FORMAT_R8G8B8A8_UNORM </a:t>
            </a:r>
            <a:r>
              <a:rPr lang="ko-KR" altLang="en-US" sz="2800" b="1" dirty="0">
                <a:solidFill>
                  <a:srgbClr val="FF0000"/>
                </a:solidFill>
              </a:rPr>
              <a:t>사용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B2BE1F71-14B0-490B-98B3-5DE8313378E0}"/>
              </a:ext>
            </a:extLst>
          </p:cNvPr>
          <p:cNvSpPr/>
          <p:nvPr/>
        </p:nvSpPr>
        <p:spPr>
          <a:xfrm>
            <a:off x="2328301" y="5603006"/>
            <a:ext cx="75353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DXGI_FORMAT_R16G16B16A16_FLOAT </a:t>
            </a:r>
            <a:r>
              <a:rPr lang="ko-KR" altLang="en-US" sz="2800" b="1" dirty="0">
                <a:solidFill>
                  <a:srgbClr val="FF0000"/>
                </a:solidFill>
              </a:rPr>
              <a:t>사용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E08D845E-8CAE-4CBD-8D98-7E429EE7C712}"/>
              </a:ext>
            </a:extLst>
          </p:cNvPr>
          <p:cNvSpPr/>
          <p:nvPr/>
        </p:nvSpPr>
        <p:spPr>
          <a:xfrm>
            <a:off x="4868334" y="6176963"/>
            <a:ext cx="73236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-&gt; </a:t>
            </a:r>
            <a:r>
              <a:rPr lang="ko-KR" altLang="en-US" dirty="0"/>
              <a:t>게임에서 </a:t>
            </a:r>
            <a:r>
              <a:rPr lang="en-US" altLang="ko-KR" dirty="0"/>
              <a:t>32bit float </a:t>
            </a:r>
            <a:r>
              <a:rPr lang="ko-KR" altLang="en-US" dirty="0"/>
              <a:t>정도의 정밀도는 필요로 하지 않음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1A23D88F-EA16-4C83-9C90-55D5C203942F}"/>
              </a:ext>
            </a:extLst>
          </p:cNvPr>
          <p:cNvSpPr/>
          <p:nvPr/>
        </p:nvSpPr>
        <p:spPr>
          <a:xfrm>
            <a:off x="160865" y="6284685"/>
            <a:ext cx="32174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>
                <a:solidFill>
                  <a:schemeClr val="bg1">
                    <a:lumMod val="65000"/>
                  </a:schemeClr>
                </a:solidFill>
              </a:rPr>
              <a:t>참고</a:t>
            </a:r>
            <a:r>
              <a:rPr lang="en-US" altLang="ko-KR" sz="2800" b="1" dirty="0">
                <a:solidFill>
                  <a:schemeClr val="bg1">
                    <a:lumMod val="65000"/>
                  </a:schemeClr>
                </a:solidFill>
              </a:rPr>
              <a:t>: DirectX </a:t>
            </a:r>
            <a:r>
              <a:rPr lang="ko-KR" altLang="en-US" sz="2800" b="1" dirty="0">
                <a:solidFill>
                  <a:schemeClr val="bg1">
                    <a:lumMod val="65000"/>
                  </a:schemeClr>
                </a:solidFill>
              </a:rPr>
              <a:t>기준</a:t>
            </a:r>
          </a:p>
        </p:txBody>
      </p:sp>
    </p:spTree>
    <p:extLst>
      <p:ext uri="{BB962C8B-B14F-4D97-AF65-F5344CB8AC3E}">
        <p14:creationId xmlns:p14="http://schemas.microsoft.com/office/powerpoint/2010/main" val="42298221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A4A4428-D45B-4C73-B8E6-E74088BC9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Forward vs Deferred – </a:t>
            </a:r>
            <a:r>
              <a:rPr lang="ko-KR" altLang="en-US" dirty="0"/>
              <a:t>파이프라인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816BBC16-479E-48F5-9B15-16FB2B310466}"/>
              </a:ext>
            </a:extLst>
          </p:cNvPr>
          <p:cNvSpPr/>
          <p:nvPr/>
        </p:nvSpPr>
        <p:spPr>
          <a:xfrm>
            <a:off x="575727" y="2339446"/>
            <a:ext cx="1676399" cy="711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모델 데이터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53A6B6A0-44E9-462A-9C48-741965F17FAA}"/>
              </a:ext>
            </a:extLst>
          </p:cNvPr>
          <p:cNvSpPr/>
          <p:nvPr/>
        </p:nvSpPr>
        <p:spPr>
          <a:xfrm>
            <a:off x="2506131" y="2339446"/>
            <a:ext cx="1676399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기하 계산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07510525-AD6D-4636-BF28-BB5E3CE2D4C6}"/>
              </a:ext>
            </a:extLst>
          </p:cNvPr>
          <p:cNvSpPr/>
          <p:nvPr/>
        </p:nvSpPr>
        <p:spPr>
          <a:xfrm>
            <a:off x="4436535" y="2339446"/>
            <a:ext cx="1676399" cy="711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색상 계산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23278812-980D-4DC5-AA38-09B59EB19EC7}"/>
              </a:ext>
            </a:extLst>
          </p:cNvPr>
          <p:cNvSpPr/>
          <p:nvPr/>
        </p:nvSpPr>
        <p:spPr>
          <a:xfrm>
            <a:off x="6366939" y="2339446"/>
            <a:ext cx="1676399" cy="711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모델 렌더링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ED3E6EF5-8D1D-49B7-ADE0-AD2A1239097F}"/>
              </a:ext>
            </a:extLst>
          </p:cNvPr>
          <p:cNvSpPr/>
          <p:nvPr/>
        </p:nvSpPr>
        <p:spPr>
          <a:xfrm>
            <a:off x="10185405" y="2339446"/>
            <a:ext cx="1676399" cy="711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최종 화면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997E10F5-5DDD-4DC6-8310-1A6DEC3BB465}"/>
              </a:ext>
            </a:extLst>
          </p:cNvPr>
          <p:cNvSpPr/>
          <p:nvPr/>
        </p:nvSpPr>
        <p:spPr>
          <a:xfrm>
            <a:off x="8161519" y="2433436"/>
            <a:ext cx="12618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dirty="0"/>
              <a:t>} * N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5F2A0C88-0F1D-4C03-B35B-8FEC82A17F0D}"/>
              </a:ext>
            </a:extLst>
          </p:cNvPr>
          <p:cNvSpPr/>
          <p:nvPr/>
        </p:nvSpPr>
        <p:spPr>
          <a:xfrm>
            <a:off x="152042" y="2433436"/>
            <a:ext cx="12618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dirty="0"/>
              <a:t>{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xmlns="" id="{EE32FFF7-1442-4F5D-9F96-4FE0AA207891}"/>
              </a:ext>
            </a:extLst>
          </p:cNvPr>
          <p:cNvSpPr/>
          <p:nvPr/>
        </p:nvSpPr>
        <p:spPr>
          <a:xfrm>
            <a:off x="9271003" y="2572279"/>
            <a:ext cx="745063" cy="2894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180A8C1C-C3ED-415A-889A-982110819EB6}"/>
              </a:ext>
            </a:extLst>
          </p:cNvPr>
          <p:cNvSpPr/>
          <p:nvPr/>
        </p:nvSpPr>
        <p:spPr>
          <a:xfrm>
            <a:off x="152042" y="1677257"/>
            <a:ext cx="71631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dirty="0"/>
              <a:t>Forward Rendering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51BD8429-1A0D-4FD1-9AE5-3794D5765609}"/>
              </a:ext>
            </a:extLst>
          </p:cNvPr>
          <p:cNvSpPr/>
          <p:nvPr/>
        </p:nvSpPr>
        <p:spPr>
          <a:xfrm>
            <a:off x="152042" y="4308464"/>
            <a:ext cx="71631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dirty="0"/>
              <a:t>Deferred Rendering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2922DD39-A397-4428-BAD9-174758551CCB}"/>
              </a:ext>
            </a:extLst>
          </p:cNvPr>
          <p:cNvSpPr/>
          <p:nvPr/>
        </p:nvSpPr>
        <p:spPr>
          <a:xfrm>
            <a:off x="575727" y="5013654"/>
            <a:ext cx="1676399" cy="711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모델 데이터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9917B30B-8025-4892-B350-DE2E221735E3}"/>
              </a:ext>
            </a:extLst>
          </p:cNvPr>
          <p:cNvSpPr/>
          <p:nvPr/>
        </p:nvSpPr>
        <p:spPr>
          <a:xfrm>
            <a:off x="2506131" y="5013654"/>
            <a:ext cx="1676399" cy="71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기하 계산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498447B-6A89-49A9-87D6-EA67699CD1C5}"/>
              </a:ext>
            </a:extLst>
          </p:cNvPr>
          <p:cNvSpPr/>
          <p:nvPr/>
        </p:nvSpPr>
        <p:spPr>
          <a:xfrm>
            <a:off x="6485120" y="5013654"/>
            <a:ext cx="1676399" cy="7112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색상 계산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116B4A5C-77E8-4C80-BC5F-9BE80AA66E8B}"/>
              </a:ext>
            </a:extLst>
          </p:cNvPr>
          <p:cNvSpPr/>
          <p:nvPr/>
        </p:nvSpPr>
        <p:spPr>
          <a:xfrm>
            <a:off x="4283786" y="5107644"/>
            <a:ext cx="12618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dirty="0"/>
              <a:t>} * N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A328E21E-F26B-41D0-BDF3-ADD21F9BEE7D}"/>
              </a:ext>
            </a:extLst>
          </p:cNvPr>
          <p:cNvSpPr/>
          <p:nvPr/>
        </p:nvSpPr>
        <p:spPr>
          <a:xfrm>
            <a:off x="152042" y="5107644"/>
            <a:ext cx="12618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dirty="0"/>
              <a:t>{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A2802821-9EA9-4A61-A48F-7760665F0761}"/>
              </a:ext>
            </a:extLst>
          </p:cNvPr>
          <p:cNvSpPr/>
          <p:nvPr/>
        </p:nvSpPr>
        <p:spPr>
          <a:xfrm>
            <a:off x="9347205" y="5013654"/>
            <a:ext cx="1676399" cy="711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최종 화면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xmlns="" id="{AD9AAFE6-3E27-4D16-95F5-FFB8AC5F2922}"/>
              </a:ext>
            </a:extLst>
          </p:cNvPr>
          <p:cNvSpPr/>
          <p:nvPr/>
        </p:nvSpPr>
        <p:spPr>
          <a:xfrm>
            <a:off x="8432803" y="5246487"/>
            <a:ext cx="745063" cy="2894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xmlns="" id="{6503A067-025C-4F94-976B-EF838A4C6DBD}"/>
              </a:ext>
            </a:extLst>
          </p:cNvPr>
          <p:cNvSpPr/>
          <p:nvPr/>
        </p:nvSpPr>
        <p:spPr>
          <a:xfrm>
            <a:off x="5468773" y="5246487"/>
            <a:ext cx="745063" cy="2894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xmlns="" id="{DA477EEC-1393-4E6E-A54C-E35BFA2B3D69}"/>
              </a:ext>
            </a:extLst>
          </p:cNvPr>
          <p:cNvSpPr/>
          <p:nvPr/>
        </p:nvSpPr>
        <p:spPr>
          <a:xfrm>
            <a:off x="4470397" y="2231166"/>
            <a:ext cx="1600200" cy="936298"/>
          </a:xfrm>
          <a:prstGeom prst="ellipse">
            <a:avLst/>
          </a:prstGeom>
          <a:noFill/>
          <a:ln w="381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xmlns="" id="{0B809ADD-D623-46EB-923D-B5469905BAD0}"/>
              </a:ext>
            </a:extLst>
          </p:cNvPr>
          <p:cNvSpPr/>
          <p:nvPr/>
        </p:nvSpPr>
        <p:spPr>
          <a:xfrm>
            <a:off x="6527451" y="4901105"/>
            <a:ext cx="1600200" cy="936298"/>
          </a:xfrm>
          <a:prstGeom prst="ellipse">
            <a:avLst/>
          </a:prstGeom>
          <a:noFill/>
          <a:ln w="381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934C18C8-7AEF-443C-97B5-C8D9B7E31D09}"/>
              </a:ext>
            </a:extLst>
          </p:cNvPr>
          <p:cNvSpPr/>
          <p:nvPr/>
        </p:nvSpPr>
        <p:spPr>
          <a:xfrm>
            <a:off x="4359975" y="3299294"/>
            <a:ext cx="20069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FF0000"/>
                </a:solidFill>
              </a:rPr>
              <a:t>색상 계산 </a:t>
            </a:r>
            <a:r>
              <a:rPr lang="en-US" altLang="ko-KR" sz="2000" b="1" dirty="0">
                <a:solidFill>
                  <a:srgbClr val="FF0000"/>
                </a:solidFill>
              </a:rPr>
              <a:t>N</a:t>
            </a:r>
            <a:r>
              <a:rPr lang="ko-KR" altLang="en-US" sz="2000" b="1" dirty="0">
                <a:solidFill>
                  <a:srgbClr val="FF0000"/>
                </a:solidFill>
              </a:rPr>
              <a:t>번</a:t>
            </a:r>
            <a:endParaRPr lang="en-US" altLang="ko-KR" sz="2000" b="1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5671D8E0-3EED-4835-8DA3-9ADC58740083}"/>
              </a:ext>
            </a:extLst>
          </p:cNvPr>
          <p:cNvSpPr/>
          <p:nvPr/>
        </p:nvSpPr>
        <p:spPr>
          <a:xfrm>
            <a:off x="6434487" y="4365207"/>
            <a:ext cx="19390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FF0000"/>
                </a:solidFill>
              </a:rPr>
              <a:t>색상 계산 </a:t>
            </a:r>
            <a:r>
              <a:rPr lang="en-US" altLang="ko-KR" sz="2000" b="1" dirty="0">
                <a:solidFill>
                  <a:srgbClr val="FF0000"/>
                </a:solidFill>
              </a:rPr>
              <a:t>1</a:t>
            </a:r>
            <a:r>
              <a:rPr lang="ko-KR" altLang="en-US" sz="2000" b="1" dirty="0">
                <a:solidFill>
                  <a:srgbClr val="FF0000"/>
                </a:solidFill>
              </a:rPr>
              <a:t>번</a:t>
            </a:r>
            <a:endParaRPr lang="en-US" altLang="ko-KR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5426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A4A4428-D45B-4C73-B8E6-E74088BC9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Forward vs Deferred – </a:t>
            </a:r>
            <a:r>
              <a:rPr lang="ko-KR" altLang="en-US" dirty="0"/>
              <a:t>스트레스 테스트</a:t>
            </a:r>
          </a:p>
        </p:txBody>
      </p:sp>
      <p:sp>
        <p:nvSpPr>
          <p:cNvPr id="26" name="내용 개체 틀 3">
            <a:extLst>
              <a:ext uri="{FF2B5EF4-FFF2-40B4-BE49-F238E27FC236}">
                <a16:creationId xmlns:a16="http://schemas.microsoft.com/office/drawing/2014/main" xmlns="" id="{38E6B961-B9E5-4346-868E-C4CF80A6C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33" y="1825625"/>
            <a:ext cx="11379199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테스트 환경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CPU - AMD Ryzen 9 7945HX with Radeon Graphics </a:t>
            </a:r>
            <a:br>
              <a:rPr lang="en-US" altLang="ko-KR" dirty="0"/>
            </a:br>
            <a:r>
              <a:rPr lang="en-US" altLang="ko-KR" dirty="0"/>
              <a:t>GPU – Nvidia GeForce RTX 4060</a:t>
            </a:r>
            <a:br>
              <a:rPr lang="en-US" altLang="ko-KR" dirty="0"/>
            </a:b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구</a:t>
            </a:r>
            <a:r>
              <a:rPr lang="en-US" altLang="ko-KR" dirty="0"/>
              <a:t> 100’000</a:t>
            </a:r>
            <a:r>
              <a:rPr lang="ko-KR" altLang="en-US" dirty="0"/>
              <a:t>개 렌더링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총 </a:t>
            </a:r>
            <a:r>
              <a:rPr lang="ko-KR" altLang="en-US" dirty="0" err="1"/>
              <a:t>버텍스</a:t>
            </a:r>
            <a:r>
              <a:rPr lang="ko-KR" altLang="en-US" dirty="0"/>
              <a:t> 약 </a:t>
            </a:r>
            <a:r>
              <a:rPr lang="en-US" altLang="ko-KR" dirty="0"/>
              <a:t>6.43</a:t>
            </a:r>
            <a:r>
              <a:rPr lang="ko-KR" altLang="en-US" dirty="0"/>
              <a:t>억 개</a:t>
            </a:r>
            <a:r>
              <a:rPr lang="en-US" altLang="ko-KR" dirty="0"/>
              <a:t/>
            </a:r>
            <a:br>
              <a:rPr lang="en-US" altLang="ko-KR" dirty="0"/>
            </a:b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807832FE-B23F-4340-BAB3-5AF6A64DAF3F}"/>
              </a:ext>
            </a:extLst>
          </p:cNvPr>
          <p:cNvSpPr/>
          <p:nvPr/>
        </p:nvSpPr>
        <p:spPr>
          <a:xfrm>
            <a:off x="2213715" y="5019975"/>
            <a:ext cx="383994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600" b="1" dirty="0" smtClean="0"/>
              <a:t>40 fps</a:t>
            </a:r>
            <a:endParaRPr lang="ko-KR" altLang="en-US" sz="6600" b="1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B396C010-FCF4-4D5C-B5B9-31238A8092C3}"/>
              </a:ext>
            </a:extLst>
          </p:cNvPr>
          <p:cNvSpPr/>
          <p:nvPr/>
        </p:nvSpPr>
        <p:spPr>
          <a:xfrm>
            <a:off x="7004201" y="5060474"/>
            <a:ext cx="383994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600" b="1" dirty="0">
                <a:solidFill>
                  <a:srgbClr val="FF0000"/>
                </a:solidFill>
              </a:rPr>
              <a:t>68 fps</a:t>
            </a:r>
            <a:endParaRPr lang="ko-KR" altLang="en-US" sz="6600" b="1" dirty="0">
              <a:solidFill>
                <a:srgbClr val="FF0000"/>
              </a:solidFill>
            </a:endParaRP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xmlns="" id="{55CC504A-7C0A-496B-AFD9-C4E541C53BDD}"/>
              </a:ext>
            </a:extLst>
          </p:cNvPr>
          <p:cNvSpPr/>
          <p:nvPr/>
        </p:nvSpPr>
        <p:spPr>
          <a:xfrm>
            <a:off x="4853668" y="5376078"/>
            <a:ext cx="2226733" cy="4995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775DB441-6A65-4786-B598-CDDC61785ED6}"/>
              </a:ext>
            </a:extLst>
          </p:cNvPr>
          <p:cNvSpPr/>
          <p:nvPr/>
        </p:nvSpPr>
        <p:spPr>
          <a:xfrm>
            <a:off x="4991096" y="4927854"/>
            <a:ext cx="16578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/>
              <a:t>70</a:t>
            </a:r>
            <a:r>
              <a:rPr lang="en-US" altLang="ko-KR" b="1" dirty="0"/>
              <a:t>% </a:t>
            </a:r>
            <a:r>
              <a:rPr lang="ko-KR" altLang="en-US" b="1" dirty="0"/>
              <a:t>성능향상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48CD280E-5F42-4AEB-8EA6-A3BF71AECD32}"/>
              </a:ext>
            </a:extLst>
          </p:cNvPr>
          <p:cNvSpPr/>
          <p:nvPr/>
        </p:nvSpPr>
        <p:spPr>
          <a:xfrm>
            <a:off x="2205566" y="6308209"/>
            <a:ext cx="21833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Forward Rendering</a:t>
            </a:r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FF23E529-F20A-43BE-B9FD-6BEE7EC570E0}"/>
              </a:ext>
            </a:extLst>
          </p:cNvPr>
          <p:cNvSpPr/>
          <p:nvPr/>
        </p:nvSpPr>
        <p:spPr>
          <a:xfrm>
            <a:off x="7251696" y="6308209"/>
            <a:ext cx="22390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Deferred Rendering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1678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A4A4428-D45B-4C73-B8E6-E74088BC9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Deferred Rendering </a:t>
            </a:r>
            <a:r>
              <a:rPr lang="ko-KR" altLang="en-US" dirty="0"/>
              <a:t>한계점 및 해결방안</a:t>
            </a:r>
          </a:p>
        </p:txBody>
      </p:sp>
      <p:sp>
        <p:nvSpPr>
          <p:cNvPr id="26" name="내용 개체 틀 3">
            <a:extLst>
              <a:ext uri="{FF2B5EF4-FFF2-40B4-BE49-F238E27FC236}">
                <a16:creationId xmlns:a16="http://schemas.microsoft.com/office/drawing/2014/main" xmlns="" id="{38E6B961-B9E5-4346-868E-C4CF80A6C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33" y="1825625"/>
            <a:ext cx="11379199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 err="1"/>
              <a:t>안티앨리어싱이</a:t>
            </a:r>
            <a:r>
              <a:rPr lang="ko-KR" altLang="en-US" dirty="0"/>
              <a:t> 불가능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반투명 물체 처리가 불가능</a:t>
            </a:r>
            <a:r>
              <a:rPr lang="en-US" altLang="ko-KR" dirty="0"/>
              <a:t/>
            </a:r>
            <a:br>
              <a:rPr lang="en-US" altLang="ko-KR" dirty="0"/>
            </a:b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3680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A4A4428-D45B-4C73-B8E6-E74088BC9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안티앨리어싱</a:t>
            </a:r>
            <a:endParaRPr lang="ko-KR" altLang="en-US" dirty="0"/>
          </a:p>
        </p:txBody>
      </p:sp>
      <p:sp>
        <p:nvSpPr>
          <p:cNvPr id="26" name="내용 개체 틀 3">
            <a:extLst>
              <a:ext uri="{FF2B5EF4-FFF2-40B4-BE49-F238E27FC236}">
                <a16:creationId xmlns:a16="http://schemas.microsoft.com/office/drawing/2014/main" xmlns="" id="{38E6B961-B9E5-4346-868E-C4CF80A6C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33" y="1825625"/>
            <a:ext cx="11379199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b="1" dirty="0" err="1"/>
              <a:t>앨리어스</a:t>
            </a:r>
            <a:r>
              <a:rPr lang="en-US" altLang="ko-KR" b="1" dirty="0"/>
              <a:t>(</a:t>
            </a:r>
            <a:r>
              <a:rPr lang="ko-KR" altLang="en-US" b="1" dirty="0"/>
              <a:t>계단 현상</a:t>
            </a:r>
            <a:r>
              <a:rPr lang="en-US" altLang="ko-KR" b="1" dirty="0"/>
              <a:t>)</a:t>
            </a:r>
            <a:r>
              <a:rPr lang="ko-KR" altLang="en-US" b="1" dirty="0"/>
              <a:t>이란</a:t>
            </a:r>
            <a:r>
              <a:rPr lang="en-US" altLang="ko-KR" b="1" dirty="0"/>
              <a:t>?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결국 픽셀을 찍는 행위이기 때문에 자세히 보면 픽셀이 상세하게 </a:t>
            </a:r>
            <a:r>
              <a:rPr lang="ko-KR" altLang="en-US" dirty="0" err="1"/>
              <a:t>보이게됨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이를 </a:t>
            </a:r>
            <a:r>
              <a:rPr lang="ko-KR" altLang="en-US" dirty="0" err="1"/>
              <a:t>매끄럽게하는</a:t>
            </a:r>
            <a:r>
              <a:rPr lang="ko-KR" altLang="en-US" dirty="0"/>
              <a:t> 것이 </a:t>
            </a:r>
            <a:r>
              <a:rPr lang="ko-KR" altLang="en-US" b="1" dirty="0" err="1"/>
              <a:t>안티앨리어싱</a:t>
            </a:r>
            <a:endParaRPr lang="en-US" altLang="ko-KR" dirty="0"/>
          </a:p>
        </p:txBody>
      </p:sp>
      <p:pic>
        <p:nvPicPr>
          <p:cNvPr id="24578" name="Picture 2" descr="Anti-Aliasing 안티앨리어싱">
            <a:extLst>
              <a:ext uri="{FF2B5EF4-FFF2-40B4-BE49-F238E27FC236}">
                <a16:creationId xmlns:a16="http://schemas.microsoft.com/office/drawing/2014/main" xmlns="" id="{DBA17612-4AD9-4615-A6B4-93D858291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778" y="3734857"/>
            <a:ext cx="6162444" cy="2826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396914BD-ED36-469F-9BB0-D772A1F5050A}"/>
              </a:ext>
            </a:extLst>
          </p:cNvPr>
          <p:cNvSpPr/>
          <p:nvPr/>
        </p:nvSpPr>
        <p:spPr>
          <a:xfrm>
            <a:off x="1830490" y="4682609"/>
            <a:ext cx="21130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err="1"/>
              <a:t>안티앨리어싱</a:t>
            </a:r>
            <a:r>
              <a:rPr lang="ko-KR" altLang="en-US" dirty="0"/>
              <a:t> 적용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262DF324-2169-459F-B920-A281F14FEFAB}"/>
              </a:ext>
            </a:extLst>
          </p:cNvPr>
          <p:cNvSpPr/>
          <p:nvPr/>
        </p:nvSpPr>
        <p:spPr>
          <a:xfrm>
            <a:off x="8883226" y="4963595"/>
            <a:ext cx="1651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앨리어스</a:t>
            </a:r>
            <a:r>
              <a:rPr lang="ko-KR" altLang="en-US" dirty="0"/>
              <a:t> 현상</a:t>
            </a:r>
          </a:p>
        </p:txBody>
      </p:sp>
    </p:spTree>
    <p:extLst>
      <p:ext uri="{BB962C8B-B14F-4D97-AF65-F5344CB8AC3E}">
        <p14:creationId xmlns:p14="http://schemas.microsoft.com/office/powerpoint/2010/main" val="41321791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A4A4428-D45B-4C73-B8E6-E74088BC9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안티앨리어싱</a:t>
            </a:r>
            <a:endParaRPr lang="ko-KR" altLang="en-US" dirty="0"/>
          </a:p>
        </p:txBody>
      </p:sp>
      <p:sp>
        <p:nvSpPr>
          <p:cNvPr id="26" name="내용 개체 틀 3">
            <a:extLst>
              <a:ext uri="{FF2B5EF4-FFF2-40B4-BE49-F238E27FC236}">
                <a16:creationId xmlns:a16="http://schemas.microsoft.com/office/drawing/2014/main" xmlns="" id="{38E6B961-B9E5-4346-868E-C4CF80A6C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33" y="1825625"/>
            <a:ext cx="11379199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일반적으로 하드웨어 차원에서 </a:t>
            </a:r>
            <a:r>
              <a:rPr lang="en-US" altLang="ko-KR" dirty="0"/>
              <a:t>MSAA (</a:t>
            </a:r>
            <a:r>
              <a:rPr lang="ko-KR" altLang="en-US" dirty="0" err="1"/>
              <a:t>멀티샘플링</a:t>
            </a:r>
            <a:r>
              <a:rPr lang="en-US" altLang="ko-KR" dirty="0"/>
              <a:t>) </a:t>
            </a:r>
            <a:r>
              <a:rPr lang="ko-KR" altLang="en-US" dirty="0"/>
              <a:t>이라는 </a:t>
            </a:r>
            <a:r>
              <a:rPr lang="ko-KR" altLang="en-US" dirty="0" err="1"/>
              <a:t>안티앨리어싱</a:t>
            </a:r>
            <a:r>
              <a:rPr lang="ko-KR" altLang="en-US" dirty="0"/>
              <a:t> 알고리즘을 지원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그러나</a:t>
            </a:r>
            <a:r>
              <a:rPr lang="en-US" altLang="ko-KR" dirty="0"/>
              <a:t>, </a:t>
            </a:r>
            <a:r>
              <a:rPr lang="ko-KR" altLang="en-US" dirty="0"/>
              <a:t>기하 정보를 저장하는 과정에서 오차가 발생하기에 하드웨어 </a:t>
            </a:r>
            <a:r>
              <a:rPr lang="ko-KR" altLang="en-US" dirty="0" err="1"/>
              <a:t>안티앨리어싱을</a:t>
            </a:r>
            <a:r>
              <a:rPr lang="ko-KR" altLang="en-US" dirty="0"/>
              <a:t> 사용할 수 없음</a:t>
            </a:r>
            <a:endParaRPr lang="en-US" altLang="ko-KR" dirty="0"/>
          </a:p>
        </p:txBody>
      </p:sp>
      <p:pic>
        <p:nvPicPr>
          <p:cNvPr id="25602" name="Picture 2" descr="https://blog.kakaocdn.net/dn/cBx92Q/btsM4btGTGC/41GIKmsqrZe1Z6AZR1ATp0/img.png">
            <a:extLst>
              <a:ext uri="{FF2B5EF4-FFF2-40B4-BE49-F238E27FC236}">
                <a16:creationId xmlns:a16="http://schemas.microsoft.com/office/drawing/2014/main" xmlns="" id="{D6ADC349-540F-40A2-A441-021592DB6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9541" y="4046008"/>
            <a:ext cx="2397024" cy="2446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B6B121FF-6980-4767-AD44-0C2ADA682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293" y="3859544"/>
            <a:ext cx="3839111" cy="281979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900D4104-024F-4E4E-9B8B-4B8660B4D470}"/>
              </a:ext>
            </a:extLst>
          </p:cNvPr>
          <p:cNvSpPr/>
          <p:nvPr/>
        </p:nvSpPr>
        <p:spPr>
          <a:xfrm>
            <a:off x="4436533" y="4159250"/>
            <a:ext cx="703032" cy="663839"/>
          </a:xfrm>
          <a:prstGeom prst="rect">
            <a:avLst/>
          </a:prstGeom>
          <a:noFill/>
          <a:ln w="381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xmlns="" id="{91C5A376-81A5-46A4-B96A-7A5853C53172}"/>
              </a:ext>
            </a:extLst>
          </p:cNvPr>
          <p:cNvCxnSpPr>
            <a:cxnSpLocks/>
          </p:cNvCxnSpPr>
          <p:nvPr/>
        </p:nvCxnSpPr>
        <p:spPr>
          <a:xfrm>
            <a:off x="5139565" y="4487333"/>
            <a:ext cx="1623893" cy="782108"/>
          </a:xfrm>
          <a:prstGeom prst="straightConnector1">
            <a:avLst/>
          </a:prstGeom>
          <a:ln w="38100"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668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A4A4428-D45B-4C73-B8E6-E74088BC9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안티앨리어싱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해결방안</a:t>
            </a:r>
          </a:p>
        </p:txBody>
      </p:sp>
      <p:sp>
        <p:nvSpPr>
          <p:cNvPr id="26" name="내용 개체 틀 3">
            <a:extLst>
              <a:ext uri="{FF2B5EF4-FFF2-40B4-BE49-F238E27FC236}">
                <a16:creationId xmlns:a16="http://schemas.microsoft.com/office/drawing/2014/main" xmlns="" id="{38E6B961-B9E5-4346-868E-C4CF80A6C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33" y="1859492"/>
            <a:ext cx="11379199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b="1" dirty="0"/>
              <a:t>직접 </a:t>
            </a:r>
            <a:r>
              <a:rPr lang="ko-KR" altLang="en-US" b="1" dirty="0" err="1"/>
              <a:t>안티앨리어싱을</a:t>
            </a:r>
            <a:r>
              <a:rPr lang="ko-KR" altLang="en-US" b="1" dirty="0"/>
              <a:t> 짜면 </a:t>
            </a:r>
            <a:r>
              <a:rPr lang="ko-KR" altLang="en-US" b="1" dirty="0" err="1"/>
              <a:t>되는거</a:t>
            </a:r>
            <a:r>
              <a:rPr lang="ko-KR" altLang="en-US" b="1" dirty="0"/>
              <a:t> 아닌가</a:t>
            </a:r>
            <a:r>
              <a:rPr lang="en-US" altLang="ko-KR" b="1" dirty="0"/>
              <a:t>?</a:t>
            </a:r>
          </a:p>
        </p:txBody>
      </p:sp>
      <p:pic>
        <p:nvPicPr>
          <p:cNvPr id="26626" name="Picture 2" descr="https://blog.kakaocdn.net/dn/bCcxHx/btsM4S1swuP/WPEPoZkeHheyR1UHyrqseK/img.png">
            <a:extLst>
              <a:ext uri="{FF2B5EF4-FFF2-40B4-BE49-F238E27FC236}">
                <a16:creationId xmlns:a16="http://schemas.microsoft.com/office/drawing/2014/main" xmlns="" id="{673A8344-3F5D-471D-B989-DAF03391A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75" y="2593975"/>
            <a:ext cx="4154458" cy="389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7856BD4C-A7BF-4806-979E-62093B65E232}"/>
              </a:ext>
            </a:extLst>
          </p:cNvPr>
          <p:cNvSpPr/>
          <p:nvPr/>
        </p:nvSpPr>
        <p:spPr>
          <a:xfrm>
            <a:off x="5503582" y="2593975"/>
            <a:ext cx="6096000" cy="273921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ko-KR" sz="2800" b="1" dirty="0"/>
              <a:t>FXAA</a:t>
            </a:r>
          </a:p>
          <a:p>
            <a:pPr>
              <a:lnSpc>
                <a:spcPct val="100000"/>
              </a:lnSpc>
            </a:pPr>
            <a:r>
              <a:rPr lang="en-US" altLang="ko-KR" sz="2400" dirty="0"/>
              <a:t>1. </a:t>
            </a:r>
            <a:r>
              <a:rPr lang="ko-KR" altLang="en-US" sz="2400" dirty="0"/>
              <a:t>색상 차이를 이용하여 경계를 탐색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2. </a:t>
            </a:r>
            <a:r>
              <a:rPr lang="ko-KR" altLang="en-US" sz="2400" dirty="0"/>
              <a:t>수직 수평 성분을 분리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3. </a:t>
            </a:r>
            <a:r>
              <a:rPr lang="ko-KR" altLang="en-US" sz="2400" dirty="0" err="1"/>
              <a:t>엣지의</a:t>
            </a:r>
            <a:r>
              <a:rPr lang="ko-KR" altLang="en-US" sz="2400" dirty="0"/>
              <a:t> 방향을 이용하여 대비가 높은 픽셀을 선택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4. </a:t>
            </a:r>
            <a:r>
              <a:rPr lang="ko-KR" altLang="en-US" sz="2400" dirty="0"/>
              <a:t>오프셋을 계산하여 주변 픽셀과 섞음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endParaRPr lang="en-US" altLang="ko-KR" sz="24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C8DEDF72-F370-48B1-884A-E9FCE6B48C60}"/>
              </a:ext>
            </a:extLst>
          </p:cNvPr>
          <p:cNvSpPr/>
          <p:nvPr/>
        </p:nvSpPr>
        <p:spPr>
          <a:xfrm>
            <a:off x="5503582" y="584654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>
                <a:hlinkClick r:id="rId3"/>
              </a:rPr>
              <a:t>https://developer.download.nvidia.com/assets/gamedev/files/sdk/11/FXAA_WhitePaper.pdf</a:t>
            </a:r>
            <a:r>
              <a:rPr lang="ko-KR" altLang="en-US" dirty="0"/>
              <a:t>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D4463913-2657-483F-8B81-A0250372F30A}"/>
              </a:ext>
            </a:extLst>
          </p:cNvPr>
          <p:cNvSpPr/>
          <p:nvPr/>
        </p:nvSpPr>
        <p:spPr>
          <a:xfrm>
            <a:off x="5503582" y="5477212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자세한 알고리즘은 문서 참고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337115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A4A4428-D45B-4C73-B8E6-E74088BC9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안티앨리어싱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해결방안</a:t>
            </a:r>
          </a:p>
        </p:txBody>
      </p:sp>
      <p:pic>
        <p:nvPicPr>
          <p:cNvPr id="27650" name="Picture 2" descr="https://blog.kakaocdn.net/dn/THUIt/btsM4sIJFiY/MFRdeL1Co7GkWBuvQKxcW0/img.png">
            <a:extLst>
              <a:ext uri="{FF2B5EF4-FFF2-40B4-BE49-F238E27FC236}">
                <a16:creationId xmlns:a16="http://schemas.microsoft.com/office/drawing/2014/main" xmlns="" id="{09ECF74C-0AEC-43C0-8753-26C0F9FE3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492" y="2209805"/>
            <a:ext cx="3865281" cy="3910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6B8EE04D-C0B4-4336-8209-C5A2B831150D}"/>
              </a:ext>
            </a:extLst>
          </p:cNvPr>
          <p:cNvSpPr/>
          <p:nvPr/>
        </p:nvSpPr>
        <p:spPr>
          <a:xfrm>
            <a:off x="4934235" y="2159003"/>
            <a:ext cx="659736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/>
              <a:t>FXAA</a:t>
            </a:r>
            <a:r>
              <a:rPr lang="ko-KR" altLang="en-US" sz="2400" dirty="0"/>
              <a:t>의 품질은 </a:t>
            </a:r>
            <a:r>
              <a:rPr lang="en-US" altLang="ko-KR" sz="2400" dirty="0"/>
              <a:t>MSAA </a:t>
            </a:r>
            <a:r>
              <a:rPr lang="ko-KR" altLang="en-US" sz="2400" dirty="0"/>
              <a:t>보다 조금 떨어지지만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ko-KR" altLang="en-US" sz="2400" dirty="0"/>
              <a:t>성능저하는 </a:t>
            </a:r>
            <a:r>
              <a:rPr lang="en-US" altLang="ko-KR" sz="2400" dirty="0"/>
              <a:t>0.2% </a:t>
            </a:r>
            <a:r>
              <a:rPr lang="ko-KR" altLang="en-US" sz="2400" dirty="0"/>
              <a:t>이하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ko-KR" altLang="en-US" sz="2400" b="1" dirty="0"/>
              <a:t>오히려 </a:t>
            </a:r>
            <a:r>
              <a:rPr lang="en-US" altLang="ko-KR" sz="2400" b="1" dirty="0"/>
              <a:t>MSAA</a:t>
            </a:r>
            <a:r>
              <a:rPr lang="ko-KR" altLang="en-US" sz="2400" b="1" dirty="0"/>
              <a:t>보다 빠름</a:t>
            </a:r>
            <a:endParaRPr lang="en-US" altLang="ko-KR" sz="2400" b="1" dirty="0"/>
          </a:p>
          <a:p>
            <a:pPr>
              <a:lnSpc>
                <a:spcPct val="100000"/>
              </a:lnSpc>
            </a:pP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-&gt; </a:t>
            </a:r>
            <a:r>
              <a:rPr lang="ko-KR" altLang="en-US" sz="2400" dirty="0"/>
              <a:t>좋은 성능으로 만족할 수 있는 품질 제공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TAA </a:t>
            </a:r>
            <a:r>
              <a:rPr lang="ko-KR" altLang="en-US" sz="2400" dirty="0"/>
              <a:t>과 같은 고품질 </a:t>
            </a:r>
            <a:r>
              <a:rPr lang="ko-KR" altLang="en-US" sz="2400" dirty="0" err="1"/>
              <a:t>안티앨리어싱도</a:t>
            </a:r>
            <a:r>
              <a:rPr lang="ko-KR" altLang="en-US" sz="2400" dirty="0"/>
              <a:t> 사용할 수 있음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ko-KR" altLang="en-US" sz="2400" dirty="0"/>
              <a:t>라스트 오브 어스</a:t>
            </a:r>
            <a:r>
              <a:rPr lang="en-US" altLang="ko-KR" sz="2400" dirty="0"/>
              <a:t>2, </a:t>
            </a:r>
            <a:r>
              <a:rPr lang="ko-KR" altLang="en-US" sz="2400" dirty="0"/>
              <a:t>사이버 펑크 </a:t>
            </a:r>
            <a:r>
              <a:rPr lang="en-US" altLang="ko-KR" sz="2400" dirty="0"/>
              <a:t>2077 </a:t>
            </a:r>
            <a:r>
              <a:rPr lang="ko-KR" altLang="en-US" sz="2400" dirty="0"/>
              <a:t>등 최신게임에서는 </a:t>
            </a:r>
            <a:r>
              <a:rPr lang="en-US" altLang="ko-KR" sz="2400" dirty="0"/>
              <a:t>TAA </a:t>
            </a:r>
            <a:r>
              <a:rPr lang="ko-KR" altLang="en-US" sz="2400" dirty="0"/>
              <a:t>선택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4728421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EA4213A-2CC8-4D87-B69E-62C312529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반투명 물체 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AF179F76-2AFA-4DE1-825B-3EF2E5EBA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모든 물체를 렌더링하고 색상을 입히는 특성상 반투명 처리가 불가능함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27E038C1-2B68-4A04-A0CF-F9FD62B6F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80" y="2816569"/>
            <a:ext cx="6398120" cy="378637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F445B9B6-7C22-41A3-8333-36C27EAEF726}"/>
              </a:ext>
            </a:extLst>
          </p:cNvPr>
          <p:cNvSpPr/>
          <p:nvPr/>
        </p:nvSpPr>
        <p:spPr>
          <a:xfrm>
            <a:off x="7236320" y="2816569"/>
            <a:ext cx="557473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dirty="0"/>
              <a:t>모든 물체를 그리면</a:t>
            </a:r>
            <a:endParaRPr lang="en-US" altLang="ko-KR" sz="2400" dirty="0"/>
          </a:p>
          <a:p>
            <a:r>
              <a:rPr lang="ko-KR" altLang="en-US" sz="2400" dirty="0"/>
              <a:t>이전 기하 정보가 소실되기에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색상을 결정할 때</a:t>
            </a:r>
            <a:endParaRPr lang="en-US" altLang="ko-KR" sz="2400" dirty="0"/>
          </a:p>
          <a:p>
            <a:r>
              <a:rPr lang="ko-KR" altLang="en-US" sz="2400" dirty="0"/>
              <a:t>반투명한 표현이 불가능함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0281127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EA4213A-2CC8-4D87-B69E-62C312529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반투명 물체 처리 </a:t>
            </a:r>
            <a:r>
              <a:rPr lang="en-US" altLang="ko-KR" dirty="0"/>
              <a:t>– </a:t>
            </a:r>
            <a:r>
              <a:rPr lang="ko-KR" altLang="en-US" dirty="0"/>
              <a:t>해결방안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AF179F76-2AFA-4DE1-825B-3EF2E5EBA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반투명 물체만 따로 모아서 렌더링 </a:t>
            </a:r>
            <a:r>
              <a:rPr lang="en-US" altLang="ko-KR" b="1" dirty="0"/>
              <a:t>(z-sort)</a:t>
            </a:r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7D7141DF-D99E-4B56-ABB6-3400C46BD101}"/>
              </a:ext>
            </a:extLst>
          </p:cNvPr>
          <p:cNvSpPr/>
          <p:nvPr/>
        </p:nvSpPr>
        <p:spPr>
          <a:xfrm>
            <a:off x="838200" y="2439369"/>
            <a:ext cx="115824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/>
              <a:t>알고리즘</a:t>
            </a:r>
            <a:endParaRPr lang="en-US" altLang="ko-KR" sz="2800" b="1" dirty="0"/>
          </a:p>
          <a:p>
            <a:r>
              <a:rPr lang="en-US" altLang="ko-KR" sz="2800" dirty="0"/>
              <a:t>1. </a:t>
            </a:r>
            <a:r>
              <a:rPr lang="ko-KR" altLang="en-US" sz="2800" dirty="0" err="1"/>
              <a:t>디퍼드</a:t>
            </a:r>
            <a:r>
              <a:rPr lang="ko-KR" altLang="en-US" sz="2800" dirty="0"/>
              <a:t> 렌더링을 정상적으로 수행</a:t>
            </a:r>
            <a:endParaRPr lang="en-US" altLang="ko-KR" sz="2800" dirty="0"/>
          </a:p>
          <a:p>
            <a:r>
              <a:rPr lang="en-US" altLang="ko-KR" sz="2800" dirty="0"/>
              <a:t>2. </a:t>
            </a:r>
            <a:r>
              <a:rPr lang="ko-KR" altLang="en-US" sz="2800" dirty="0"/>
              <a:t>반투명한 물체들을 모아 깊이를 기준으로 정렬함</a:t>
            </a:r>
            <a:endParaRPr lang="en-US" altLang="ko-KR" sz="2800" dirty="0"/>
          </a:p>
          <a:p>
            <a:r>
              <a:rPr lang="en-US" altLang="ko-KR" sz="2800" dirty="0"/>
              <a:t>3. </a:t>
            </a:r>
            <a:r>
              <a:rPr lang="ko-KR" altLang="en-US" sz="2800" dirty="0"/>
              <a:t>깊이가 깊은 것부터 순서대로 포워드 렌더링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ko-KR" altLang="en-US" sz="2800" b="1" dirty="0"/>
              <a:t>문제점</a:t>
            </a:r>
            <a:endParaRPr lang="en-US" altLang="ko-KR" sz="2800" b="1" dirty="0"/>
          </a:p>
          <a:p>
            <a:pPr marL="514350" indent="-514350">
              <a:buAutoNum type="arabicPeriod"/>
            </a:pPr>
            <a:r>
              <a:rPr lang="ko-KR" altLang="en-US" sz="2800" dirty="0"/>
              <a:t>매 프레임 정렬하는 것이 부담스러움 </a:t>
            </a:r>
            <a:r>
              <a:rPr lang="en-US" altLang="ko-KR" sz="2800" dirty="0"/>
              <a:t>(quick sort</a:t>
            </a:r>
            <a:r>
              <a:rPr lang="ko-KR" altLang="en-US" sz="2800" dirty="0"/>
              <a:t>시 </a:t>
            </a:r>
            <a:r>
              <a:rPr lang="en-US" altLang="ko-KR" sz="2800" dirty="0"/>
              <a:t>n log n)</a:t>
            </a:r>
          </a:p>
          <a:p>
            <a:pPr marL="514350" indent="-514350">
              <a:buAutoNum type="arabicPeriod"/>
            </a:pPr>
            <a:r>
              <a:rPr lang="ko-KR" altLang="en-US" sz="2800" dirty="0"/>
              <a:t>반투명 물체가 반투명 물체를 관통하는 꼴은 못 그림</a:t>
            </a:r>
            <a:r>
              <a:rPr lang="en-US" altLang="ko-KR" sz="2800" dirty="0"/>
              <a:t/>
            </a:r>
            <a:br>
              <a:rPr lang="en-US" altLang="ko-KR" sz="2800" dirty="0"/>
            </a:br>
            <a:r>
              <a:rPr lang="en-US" altLang="ko-KR" sz="2800" dirty="0"/>
              <a:t>-&gt;</a:t>
            </a:r>
            <a:r>
              <a:rPr lang="ko-KR" altLang="en-US" sz="2800" dirty="0"/>
              <a:t> 객체단위 정렬이기 때문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3322733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EA4213A-2CC8-4D87-B69E-62C312529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반투명 물체 처리</a:t>
            </a:r>
            <a:r>
              <a:rPr lang="en-US" altLang="ko-KR" dirty="0"/>
              <a:t> – </a:t>
            </a:r>
            <a:r>
              <a:rPr lang="ko-KR" altLang="en-US" dirty="0"/>
              <a:t>해결방안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AF179F76-2AFA-4DE1-825B-3EF2E5EBA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err="1"/>
              <a:t>디더링을</a:t>
            </a:r>
            <a:r>
              <a:rPr lang="ko-KR" altLang="en-US" b="1" dirty="0"/>
              <a:t> 이용하여 근사적으로 반투명 구현</a:t>
            </a:r>
            <a:endParaRPr lang="en-US" altLang="ko-KR" b="1" dirty="0"/>
          </a:p>
        </p:txBody>
      </p:sp>
      <p:pic>
        <p:nvPicPr>
          <p:cNvPr id="29698" name="Picture 2" descr="플로이드-스타인버그 디더링 - 위키백과, 우리 모두의 백과사전">
            <a:extLst>
              <a:ext uri="{FF2B5EF4-FFF2-40B4-BE49-F238E27FC236}">
                <a16:creationId xmlns:a16="http://schemas.microsoft.com/office/drawing/2014/main" xmlns="" id="{383E4B77-952E-4B11-AE64-7C2733578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949" y="2413530"/>
            <a:ext cx="3558117" cy="424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80BC5B2F-7397-46CE-BE50-CFDFD9DC087F}"/>
              </a:ext>
            </a:extLst>
          </p:cNvPr>
          <p:cNvSpPr/>
          <p:nvPr/>
        </p:nvSpPr>
        <p:spPr>
          <a:xfrm>
            <a:off x="4789454" y="2413530"/>
            <a:ext cx="72332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dirty="0" err="1"/>
              <a:t>디더링은</a:t>
            </a:r>
            <a:r>
              <a:rPr lang="ko-KR" altLang="en-US" sz="2400" dirty="0"/>
              <a:t> 제한된 색으로 명암을 나타내는 기법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좌측 사진의 경우 흰색과 검정 만으로 명암을 표현</a:t>
            </a:r>
            <a:endParaRPr lang="en-US" altLang="ko-KR" sz="2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4C81856B-7685-431D-B4D4-79E22C6DF61D}"/>
              </a:ext>
            </a:extLst>
          </p:cNvPr>
          <p:cNvSpPr/>
          <p:nvPr/>
        </p:nvSpPr>
        <p:spPr>
          <a:xfrm>
            <a:off x="5122333" y="3847005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ko-KR" altLang="en-US" sz="2400" dirty="0"/>
              <a:t>투명한 물체 </a:t>
            </a:r>
            <a:r>
              <a:rPr lang="en-US" altLang="ko-KR" sz="2400" dirty="0"/>
              <a:t>-&gt;</a:t>
            </a:r>
            <a:r>
              <a:rPr lang="ko-KR" altLang="en-US" sz="2400" dirty="0"/>
              <a:t> </a:t>
            </a:r>
            <a:r>
              <a:rPr lang="ko-KR" altLang="en-US" sz="2400" b="1" dirty="0" err="1"/>
              <a:t>디더링을</a:t>
            </a:r>
            <a:r>
              <a:rPr lang="ko-KR" altLang="en-US" sz="2400" b="1" dirty="0"/>
              <a:t> 강하게</a:t>
            </a:r>
            <a:endParaRPr lang="en-US" altLang="ko-KR" sz="2400" dirty="0"/>
          </a:p>
          <a:p>
            <a:pPr algn="ctr"/>
            <a:r>
              <a:rPr lang="ko-KR" altLang="en-US" sz="2400" dirty="0"/>
              <a:t>불투명한 물체 </a:t>
            </a:r>
            <a:r>
              <a:rPr lang="en-US" altLang="ko-KR" sz="2400" dirty="0"/>
              <a:t>-&gt;</a:t>
            </a:r>
            <a:r>
              <a:rPr lang="ko-KR" altLang="en-US" sz="2400" dirty="0"/>
              <a:t> </a:t>
            </a:r>
            <a:r>
              <a:rPr lang="ko-KR" altLang="en-US" sz="2400" b="1" dirty="0" err="1"/>
              <a:t>디더링을</a:t>
            </a:r>
            <a:r>
              <a:rPr lang="ko-KR" altLang="en-US" sz="2400" b="1" dirty="0"/>
              <a:t> 약하게</a:t>
            </a:r>
            <a:endParaRPr lang="en-US" altLang="ko-KR" sz="2400" b="1" dirty="0"/>
          </a:p>
          <a:p>
            <a:pPr algn="ctr"/>
            <a:endParaRPr lang="en-US" altLang="ko-KR" sz="2400" dirty="0"/>
          </a:p>
          <a:p>
            <a:pPr algn="ctr"/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ko-KR" altLang="en-US" sz="2400" b="1" dirty="0"/>
              <a:t>반투명 효과를 근사적으로 구현할 수 있음</a:t>
            </a:r>
            <a:endParaRPr lang="en-US" altLang="ko-KR" sz="2400" b="1" dirty="0"/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xmlns="" id="{09B94523-4C4F-46B6-B0B0-C60664E0CBAE}"/>
              </a:ext>
            </a:extLst>
          </p:cNvPr>
          <p:cNvSpPr/>
          <p:nvPr/>
        </p:nvSpPr>
        <p:spPr>
          <a:xfrm>
            <a:off x="7950200" y="4902200"/>
            <a:ext cx="440266" cy="8212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0891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EA4213A-2CC8-4D87-B69E-62C312529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반투명 물체 처리 </a:t>
            </a:r>
            <a:r>
              <a:rPr lang="en-US" altLang="ko-KR" dirty="0"/>
              <a:t>– </a:t>
            </a:r>
            <a:r>
              <a:rPr lang="ko-KR" altLang="en-US" dirty="0"/>
              <a:t>해결방안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31746" name="Picture 2" descr="https://godotshaders.com/wp-content/uploads/2021/01/cover-14.png">
            <a:extLst>
              <a:ext uri="{FF2B5EF4-FFF2-40B4-BE49-F238E27FC236}">
                <a16:creationId xmlns:a16="http://schemas.microsoft.com/office/drawing/2014/main" xmlns="" id="{57D648FA-28E4-41E8-A758-149F51111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66" y="1980141"/>
            <a:ext cx="7738535" cy="435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C5E9DFDD-1147-41AA-BCE0-3C194B65BA48}"/>
              </a:ext>
            </a:extLst>
          </p:cNvPr>
          <p:cNvSpPr/>
          <p:nvPr/>
        </p:nvSpPr>
        <p:spPr>
          <a:xfrm>
            <a:off x="8575393" y="3866504"/>
            <a:ext cx="72332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dirty="0"/>
              <a:t>충분히 그럴듯한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효과</a:t>
            </a:r>
            <a:r>
              <a:rPr lang="en-US" altLang="ko-KR" sz="24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1217444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EA4213A-2CC8-4D87-B69E-62C312529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반투명 물체 처리</a:t>
            </a:r>
            <a:r>
              <a:rPr lang="en-US" altLang="ko-KR" dirty="0"/>
              <a:t> – </a:t>
            </a:r>
            <a:r>
              <a:rPr lang="ko-KR" altLang="en-US" dirty="0"/>
              <a:t>해결방안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32770" name="Picture 2" descr="r/Switch - Why does the Switch do this weird, &quot;newspaper&quot;-like dithering instead of regular transparency?">
            <a:extLst>
              <a:ext uri="{FF2B5EF4-FFF2-40B4-BE49-F238E27FC236}">
                <a16:creationId xmlns:a16="http://schemas.microsoft.com/office/drawing/2014/main" xmlns="" id="{DF234865-F495-45A6-B6DF-E36AD54A7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6733" y="2418821"/>
            <a:ext cx="4353255" cy="4149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xmlns="" id="{1D5EC652-F53E-4171-83C7-3BCA4232E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2308"/>
          </a:xfrm>
        </p:spPr>
        <p:txBody>
          <a:bodyPr>
            <a:normAutofit/>
          </a:bodyPr>
          <a:lstStyle/>
          <a:p>
            <a:r>
              <a:rPr lang="ko-KR" altLang="en-US" b="1" dirty="0" err="1"/>
              <a:t>디더링을</a:t>
            </a:r>
            <a:r>
              <a:rPr lang="ko-KR" altLang="en-US" b="1" dirty="0"/>
              <a:t> 이용하여 근사적으로 반투명 구현</a:t>
            </a:r>
            <a:r>
              <a:rPr lang="en-US" altLang="ko-KR" b="1" dirty="0"/>
              <a:t/>
            </a:r>
            <a:br>
              <a:rPr lang="en-US" altLang="ko-KR" b="1" dirty="0"/>
            </a:br>
            <a:endParaRPr lang="en-US" altLang="ko-KR" b="1" dirty="0"/>
          </a:p>
          <a:p>
            <a:pPr marL="0" indent="0">
              <a:buNone/>
            </a:pPr>
            <a:r>
              <a:rPr lang="ko-KR" altLang="en-US" b="1" dirty="0"/>
              <a:t>장점</a:t>
            </a:r>
            <a:endParaRPr lang="en-US" altLang="ko-KR" b="1" dirty="0"/>
          </a:p>
          <a:p>
            <a:pPr marL="0" indent="0">
              <a:buNone/>
            </a:pPr>
            <a:r>
              <a:rPr lang="ko-KR" altLang="en-US" dirty="0"/>
              <a:t>그럴듯한 품질과 매우 뛰어난 성능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디퍼드</a:t>
            </a:r>
            <a:r>
              <a:rPr lang="ko-KR" altLang="en-US" dirty="0"/>
              <a:t> 렌더링으로 한 번에 처리 가능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sz="2400" dirty="0" err="1"/>
              <a:t>슈퍼마리오</a:t>
            </a:r>
            <a:r>
              <a:rPr lang="ko-KR" altLang="en-US" sz="2400" dirty="0"/>
              <a:t> 오디세이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세키로</a:t>
            </a:r>
            <a:r>
              <a:rPr lang="ko-KR" altLang="en-US" sz="2400" dirty="0"/>
              <a:t> 등 현대적인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AAA </a:t>
            </a:r>
            <a:r>
              <a:rPr lang="ko-KR" altLang="en-US" sz="2400" dirty="0"/>
              <a:t>게임에서도 선택하는 기법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b="1" dirty="0"/>
              <a:t>단점</a:t>
            </a:r>
            <a:endParaRPr lang="en-US" altLang="ko-KR" b="1" dirty="0"/>
          </a:p>
          <a:p>
            <a:pPr marL="0" indent="0">
              <a:buNone/>
            </a:pPr>
            <a:r>
              <a:rPr lang="ko-KR" altLang="en-US" dirty="0"/>
              <a:t>진정한 의미의 반투명은 아님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958460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EA4213A-2CC8-4D87-B69E-62C312529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반투명 물체 처리</a:t>
            </a:r>
            <a:r>
              <a:rPr lang="en-US" altLang="ko-KR" dirty="0"/>
              <a:t> – </a:t>
            </a:r>
            <a:r>
              <a:rPr lang="ko-KR" altLang="en-US" dirty="0"/>
              <a:t>해결방안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xmlns="" id="{1D5EC652-F53E-4171-83C7-3BCA4232E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223"/>
            <a:ext cx="10515600" cy="6454775"/>
          </a:xfrm>
        </p:spPr>
        <p:txBody>
          <a:bodyPr>
            <a:normAutofit/>
          </a:bodyPr>
          <a:lstStyle/>
          <a:p>
            <a:r>
              <a:rPr lang="en-US" altLang="ko-KR" dirty="0"/>
              <a:t>Order-Independent Transparency</a:t>
            </a:r>
            <a:br>
              <a:rPr lang="en-US" altLang="ko-KR" dirty="0"/>
            </a:b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GPU</a:t>
            </a:r>
            <a:r>
              <a:rPr lang="ko-KR" altLang="en-US" dirty="0"/>
              <a:t>안에 자료구조를 유지하여</a:t>
            </a:r>
            <a:r>
              <a:rPr lang="en-US" altLang="ko-KR" dirty="0"/>
              <a:t> </a:t>
            </a:r>
            <a:r>
              <a:rPr lang="ko-KR" altLang="en-US" dirty="0"/>
              <a:t>픽셀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의 기여도를 병합하는 방법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b="1" dirty="0"/>
              <a:t>장점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sz="2400" dirty="0"/>
              <a:t>진정한 의미의 투명 렌더링 알고리즘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ko-KR" altLang="en-US" sz="2400" dirty="0"/>
              <a:t>정렬이 </a:t>
            </a:r>
            <a:r>
              <a:rPr lang="ko-KR" altLang="en-US" sz="2400" dirty="0" err="1"/>
              <a:t>필요없음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ko-KR" altLang="en-US" sz="2400" dirty="0"/>
              <a:t>픽셀 단위로 투명을 처리할 수 있음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b="1" dirty="0"/>
              <a:t>단점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ko-KR" altLang="en-US" sz="2400" dirty="0"/>
              <a:t>성능 감소가 여전히 존재함</a:t>
            </a:r>
            <a:r>
              <a:rPr lang="en-US" altLang="ko-KR" sz="2400" dirty="0"/>
              <a:t/>
            </a:r>
            <a:br>
              <a:rPr lang="en-US" altLang="ko-KR" sz="2400" dirty="0"/>
            </a:br>
            <a:r>
              <a:rPr lang="ko-KR" altLang="en-US" sz="2400" dirty="0"/>
              <a:t>구현이 어려움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/>
              <a:t/>
            </a:r>
            <a:br>
              <a:rPr lang="en-US" altLang="ko-KR" b="1" dirty="0"/>
            </a:b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E8ADB016-B325-4A41-A3BC-3DD4323C3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660" y="1690688"/>
            <a:ext cx="4404458" cy="463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817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EA4213A-2CC8-4D87-B69E-62C312529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반투명 물체 처리</a:t>
            </a:r>
            <a:r>
              <a:rPr lang="en-US" altLang="ko-KR" dirty="0"/>
              <a:t> – </a:t>
            </a:r>
            <a:r>
              <a:rPr lang="ko-KR" altLang="en-US" dirty="0"/>
              <a:t>해결방안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6604FA6A-5BAB-450F-9861-BAFB1B6A5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자세한 내용은 발표 주제를 넘어서기에 자세한 것은 문서 참조</a:t>
            </a:r>
            <a:r>
              <a:rPr lang="en-US" altLang="ko-KR" dirty="0"/>
              <a:t/>
            </a:r>
            <a:br>
              <a:rPr lang="en-US" altLang="ko-KR" dirty="0"/>
            </a:b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>
                <a:hlinkClick r:id="rId2"/>
              </a:rPr>
              <a:t>https://www.intel.com/content/www/us/en/developer/articles/technical/oit-approximation-with-pixel-synchronization.html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22476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xmlns="" id="{CB34E671-ED34-4D93-A3EC-8FD4A9EED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Q/A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8041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1130</Words>
  <Application>Microsoft Office PowerPoint</Application>
  <PresentationFormat>사용자 지정</PresentationFormat>
  <Paragraphs>274</Paragraphs>
  <Slides>37</Slides>
  <Notes>0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0</vt:i4>
      </vt:variant>
      <vt:variant>
        <vt:lpstr>슬라이드 제목</vt:lpstr>
      </vt:variant>
      <vt:variant>
        <vt:i4>37</vt:i4>
      </vt:variant>
    </vt:vector>
  </HeadingPairs>
  <TitlesOfParts>
    <vt:vector size="38" baseType="lpstr">
      <vt:lpstr>Office 테마</vt:lpstr>
      <vt:lpstr>Deferred Rendering을 이용한 렌더링 최적화</vt:lpstr>
      <vt:lpstr>배경지식 – 렌더링 기초</vt:lpstr>
      <vt:lpstr>배경지식 – 렌더링 기초</vt:lpstr>
      <vt:lpstr>배경지식 – 3D 렌더링 기초</vt:lpstr>
      <vt:lpstr>배경지식 – 3D 렌더링 기초</vt:lpstr>
      <vt:lpstr>배경지식 – 빛 렌더링</vt:lpstr>
      <vt:lpstr>배경지식 – 빛 렌더링</vt:lpstr>
      <vt:lpstr>배경지식 – 빛 렌더링</vt:lpstr>
      <vt:lpstr>배경지식 – 재질(Material) 렌더링</vt:lpstr>
      <vt:lpstr>배경지식 – 재질(Material) 렌더링</vt:lpstr>
      <vt:lpstr>배경지식 – 재질(Material) 렌더링</vt:lpstr>
      <vt:lpstr>그래서 3D 물체를 제대로 그리기 위해선..</vt:lpstr>
      <vt:lpstr>그래서 3D 물체를 제대로 그리기 위해선..</vt:lpstr>
      <vt:lpstr>즉, 색상을 결정하기 위해서는…</vt:lpstr>
      <vt:lpstr>전통적인 렌더링 – Forward Rendering</vt:lpstr>
      <vt:lpstr>전통적인 렌더링 – Forward Rendering</vt:lpstr>
      <vt:lpstr>Forward Rendering 의 문제점</vt:lpstr>
      <vt:lpstr>해결책 – Deferred Rendering</vt:lpstr>
      <vt:lpstr>해결책 – Deferred Rendering</vt:lpstr>
      <vt:lpstr>Deferred Rendering – 최적화 기법</vt:lpstr>
      <vt:lpstr>Deferred Rendering – 최적화 기법</vt:lpstr>
      <vt:lpstr>Deferred Rendering – 최적화 기법</vt:lpstr>
      <vt:lpstr>Forward vs Deferred – 파이프라인</vt:lpstr>
      <vt:lpstr>Forward vs Deferred – 스트레스 테스트</vt:lpstr>
      <vt:lpstr>Deferred Rendering 한계점 및 해결방안</vt:lpstr>
      <vt:lpstr>안티앨리어싱</vt:lpstr>
      <vt:lpstr>안티앨리어싱</vt:lpstr>
      <vt:lpstr>안티앨리어싱 – 해결방안</vt:lpstr>
      <vt:lpstr>안티앨리어싱 – 해결방안</vt:lpstr>
      <vt:lpstr>반투명 물체 처리</vt:lpstr>
      <vt:lpstr>반투명 물체 처리 – 해결방안 1</vt:lpstr>
      <vt:lpstr>반투명 물체 처리 – 해결방안 2</vt:lpstr>
      <vt:lpstr>반투명 물체 처리 – 해결방안 2</vt:lpstr>
      <vt:lpstr>반투명 물체 처리 – 해결방안 2</vt:lpstr>
      <vt:lpstr>반투명 물체 처리 – 해결방안 3</vt:lpstr>
      <vt:lpstr>반투명 물체 처리 – 해결방안 3</vt:lpstr>
      <vt:lpstr>Q/A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Deferred Rendering을 이용한 렌더링 최적화</dc:title>
  <dc:creator>안지우</dc:creator>
  <cp:lastModifiedBy>Ahnjiwoo</cp:lastModifiedBy>
  <cp:revision>64</cp:revision>
  <dcterms:created xsi:type="dcterms:W3CDTF">2025-04-25T07:12:33Z</dcterms:created>
  <dcterms:modified xsi:type="dcterms:W3CDTF">2026-08-22T03:55:15Z</dcterms:modified>
</cp:coreProperties>
</file>